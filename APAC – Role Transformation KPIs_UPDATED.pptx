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bin"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28"/>
  </p:sldMasterIdLst>
  <p:notesMasterIdLst>
    <p:notesMasterId r:id="rId31"/>
  </p:notesMasterIdLst>
  <p:handoutMasterIdLst>
    <p:handoutMasterId r:id="rId32"/>
  </p:handoutMasterIdLst>
  <p:sldIdLst>
    <p:sldId id="2246" r:id="rId29"/>
    <p:sldId id="2147483647" r:id="rId30"/>
  </p:sldIdLst>
  <p:sldSz cx="12195175" cy="6858000"/>
  <p:notesSz cx="6858000" cy="9144000"/>
  <p:embeddedFontLst>
    <p:embeddedFont>
      <p:font typeface="72 Brand" panose="020B0504030603020204" pitchFamily="34" charset="0"/>
      <p:regular r:id="rId33"/>
      <p:bold r:id="rId34"/>
      <p:italic r:id="rId35"/>
      <p:boldItalic r:id="rId36"/>
    </p:embeddedFont>
    <p:embeddedFont>
      <p:font typeface="72 Brand Medium" panose="020B0604030603020204" pitchFamily="34" charset="0"/>
      <p:regular r:id="rId37"/>
      <p:italic r:id="rId38"/>
    </p:embeddedFont>
    <p:embeddedFont>
      <p:font typeface="Roboto" panose="02000000000000000000" pitchFamily="2" charset="0"/>
      <p:regular r:id="rId39"/>
      <p:bold r:id="rId40"/>
      <p:italic r:id="rId41"/>
      <p:boldItalic r:id="rId42"/>
    </p:embeddedFont>
  </p:embeddedFontLst>
  <p:custDataLst>
    <p:tags r:id="rId43"/>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3317"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showGuides="1">
      <p:cViewPr varScale="1">
        <p:scale>
          <a:sx n="72" d="100"/>
          <a:sy n="72" d="100"/>
        </p:scale>
        <p:origin x="804" y="60"/>
      </p:cViewPr>
      <p:guideLst>
        <p:guide pos="3841"/>
        <p:guide orient="horz" pos="33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92" d="100"/>
          <a:sy n="92" d="100"/>
        </p:scale>
        <p:origin x="4008" y="16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slideMaster" Target="slideMasters/slideMaster1.xml"/><Relationship Id="rId29" Type="http://schemas.openxmlformats.org/officeDocument/2006/relationships/slide" Target="slides/slide1.xml"/><Relationship Id="rId30" Type="http://schemas.openxmlformats.org/officeDocument/2006/relationships/slide" Target="slides/slide2.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3" Type="http://schemas.openxmlformats.org/officeDocument/2006/relationships/tags" Target="tags/tag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Arial" panose="020B0604020202020204" pitchFamily="34" charset="0"/>
              </a:rPr>
              <a:pPr algn="ctr"/>
              <a:t>‹#›</a:t>
            </a:fld>
            <a:endParaRPr lang="de-DE" sz="1000" dirty="0">
              <a:latin typeface="Arial" panose="020B0604020202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Arial" panose="020B0604020202020204" pitchFamily="34" charset="0"/>
              </a:defRPr>
            </a:lvl1pPr>
          </a:lstStyle>
          <a:p>
            <a:fld id="{7D8C2C35-2B8A-446E-BEC0-FD36716C29AC}" type="slidenum">
              <a:rPr lang="en-DE" smtClean="0"/>
              <a:pPr/>
              <a:t>‹#›</a:t>
            </a:fld>
            <a:endParaRPr lang="en-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Arial" panose="020B0604020202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Arial" panose="020B0604020202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Arial" panose="020B0604020202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4CD1FE-F60B-5D46-8EF7-FA840B5E0B67}" type="slidenum">
              <a:rPr lang="en-US" smtClean="0"/>
              <a:t>1</a:t>
            </a:fld>
            <a:endParaRPr lang="en-US"/>
          </a:p>
        </p:txBody>
      </p:sp>
    </p:spTree>
    <p:extLst>
      <p:ext uri="{BB962C8B-B14F-4D97-AF65-F5344CB8AC3E}">
        <p14:creationId xmlns:p14="http://schemas.microsoft.com/office/powerpoint/2010/main" val="3720932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4CD1FE-F60B-5D46-8EF7-FA840B5E0B67}" type="slidenum">
              <a:rPr lang="en-US" smtClean="0"/>
              <a:t>2</a:t>
            </a:fld>
            <a:endParaRPr lang="en-US"/>
          </a:p>
        </p:txBody>
      </p:sp>
    </p:spTree>
    <p:extLst>
      <p:ext uri="{BB962C8B-B14F-4D97-AF65-F5344CB8AC3E}">
        <p14:creationId xmlns:p14="http://schemas.microsoft.com/office/powerpoint/2010/main" val="166255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bin"/><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125.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1650" y="1557338"/>
            <a:ext cx="11186477"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dirty="0"/>
              <a:t>Insert page title (sentence case)</a:t>
            </a:r>
            <a:endParaRPr lang="en-US" dirty="0"/>
          </a:p>
        </p:txBody>
      </p:sp>
    </p:spTree>
    <p:extLst>
      <p:ext uri="{BB962C8B-B14F-4D97-AF65-F5344CB8AC3E}">
        <p14:creationId xmlns:p14="http://schemas.microsoft.com/office/powerpoint/2010/main" val="187495610"/>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7"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9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4" name="Title"/>
          <p:cNvSpPr>
            <a:spLocks noGrp="1"/>
          </p:cNvSpPr>
          <p:nvPr>
            <p:ph type="title" hasCustomPrompt="1"/>
          </p:nvPr>
        </p:nvSpPr>
        <p:spPr>
          <a:xfrm>
            <a:off x="288000" y="2706317"/>
            <a:ext cx="5441288" cy="997196"/>
          </a:xfrm>
        </p:spPr>
        <p:txBody>
          <a:bodyPr anchor="b" anchorCtr="0">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5363" y="0"/>
            <a:ext cx="6119812" cy="6858000"/>
          </a:xfrm>
        </p:spPr>
        <p:txBody>
          <a:bodyPr anchor="ctr" anchorCtr="0"/>
          <a:lstStyle>
            <a:lvl1pPr algn="ctr">
              <a:defRPr/>
            </a:lvl1pPr>
          </a:lstStyle>
          <a:p>
            <a:r>
              <a:rPr lang="en-US" dirty="0"/>
              <a:t>Click to insert picture</a:t>
            </a:r>
          </a:p>
        </p:txBody>
      </p:sp>
      <p:pic>
        <p:nvPicPr>
          <p:cNvPr id="1533652702" name="LogoBlue-Dynamic" descr="{&quot;templafy&quot;:{&quot;id&quot;:&quot;6c7bdae5-f4a4-41ef-bce1-a9de047427a3&quot;}}"/>
          <p:cNvPicPr>
            <a:picLocks noChangeAspect="1"/>
          </p:cNvPicPr>
          <p:nvPr/>
        </p:nvPicPr>
        <p:blipFill>
          <a:blip r:embed="rId2"/>
          <a:stretch>
            <a:fillRect/>
          </a:stretch>
        </p:blipFill>
        <p:spPr>
          <a:xfrm>
            <a:off x="288006" y="360000"/>
            <a:ext cx="727192" cy="360000"/>
          </a:xfrm>
          <a:prstGeom prst="rect">
            <a:avLst/>
          </a:prstGeom>
        </p:spPr>
      </p:pic>
      <p:sp>
        <p:nvSpPr>
          <p:cNvPr id="6" name="Classification-Dynamic" descr="{&quot;templafy&quot;:{&quot;id&quot;:&quot;31826e07-6bd8-46cf-99a6-aba87324adbb&quot;}}">
            <a:extLst>
              <a:ext uri="{FF2B5EF4-FFF2-40B4-BE49-F238E27FC236}">
                <a16:creationId xmlns:a16="http://schemas.microsoft.com/office/drawing/2014/main" id="{870EB466-B92B-9D4D-974E-A49C0F424152}"/>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704" userDrawn="1">
          <p15:clr>
            <a:srgbClr val="FBAE40"/>
          </p15:clr>
        </p15:guide>
        <p15:guide id="4" orient="horz" pos="2334" userDrawn="1">
          <p15:clr>
            <a:srgbClr val="FBAE40"/>
          </p15:clr>
        </p15:guide>
        <p15:guide id="5" orient="horz" pos="2960" userDrawn="1">
          <p15:clr>
            <a:srgbClr val="FBAE40"/>
          </p15:clr>
        </p15:guide>
        <p15:guide id="7" orient="horz" pos="4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1" y="0"/>
            <a:ext cx="12195175" cy="6858000"/>
          </a:xfrm>
          <a:prstGeom prst="rect">
            <a:avLst/>
          </a:prstGeom>
          <a:solidFill>
            <a:srgbClr val="28004A"/>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9111" y="1216759"/>
            <a:ext cx="8887864" cy="4424483"/>
          </a:xfrm>
          <a:prstGeom prst="rect">
            <a:avLst/>
          </a:prstGeom>
        </p:spPr>
      </p:pic>
      <p:sp>
        <p:nvSpPr>
          <p:cNvPr id="4" name="Title"/>
          <p:cNvSpPr>
            <a:spLocks noGrp="1"/>
          </p:cNvSpPr>
          <p:nvPr>
            <p:ph type="title" hasCustomPrompt="1"/>
          </p:nvPr>
        </p:nvSpPr>
        <p:spPr>
          <a:xfrm>
            <a:off x="288000" y="2706317"/>
            <a:ext cx="10900800" cy="997196"/>
          </a:xfrm>
        </p:spPr>
        <p:txBody>
          <a:bodyPr>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1787688874" name="LogoWhite-Dynamic" descr="{&quot;templafy&quot;:{&quot;id&quot;:&quot;2de5be2a-d3c3-4ddf-bfce-d8d47df28dbb&quot;}}"/>
          <p:cNvPicPr>
            <a:picLocks noChangeAspect="1"/>
          </p:cNvPicPr>
          <p:nvPr/>
        </p:nvPicPr>
        <p:blipFill>
          <a:blip r:embed="rId3"/>
          <a:stretch>
            <a:fillRect/>
          </a:stretch>
        </p:blipFill>
        <p:spPr>
          <a:xfrm>
            <a:off x="288006" y="360000"/>
            <a:ext cx="727192" cy="360000"/>
          </a:xfrm>
          <a:prstGeom prst="rect">
            <a:avLst/>
          </a:prstGeom>
        </p:spPr>
      </p:pic>
      <p:sp>
        <p:nvSpPr>
          <p:cNvPr id="7" name="Classification-Dynamic" descr="{&quot;templafy&quot;:{&quot;id&quot;:&quot;ae7c7b96-b70f-4e7a-b733-583422dd9c67&quot;}}">
            <a:extLst>
              <a:ext uri="{FF2B5EF4-FFF2-40B4-BE49-F238E27FC236}">
                <a16:creationId xmlns:a16="http://schemas.microsoft.com/office/drawing/2014/main" id="{1D05DC80-84C9-9ECA-3B84-3577D8D8165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bg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2667257257"/>
      </p:ext>
    </p:extLst>
  </p:cSld>
  <p:clrMapOvr>
    <a:masterClrMapping/>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688" userDrawn="1">
          <p15:clr>
            <a:srgbClr val="FBAE40"/>
          </p15:clr>
        </p15:guide>
        <p15:guide id="4" orient="horz" pos="2334" userDrawn="1">
          <p15:clr>
            <a:srgbClr val="FBAE40"/>
          </p15:clr>
        </p15:guide>
        <p15:guide id="5" orient="horz" pos="2960" userDrawn="1">
          <p15:clr>
            <a:srgbClr val="FBAE40"/>
          </p15:clr>
        </p15:guide>
        <p15:guide id="7" orient="horz" pos="41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2258" y="0"/>
            <a:ext cx="5092917" cy="6858000"/>
          </a:xfrm>
          <a:prstGeom prst="rect">
            <a:avLst/>
          </a:prstGeom>
          <a:solidFill>
            <a:srgbClr val="FFC932"/>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467600" y="250521"/>
            <a:ext cx="4538091"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1" y="0"/>
            <a:ext cx="7226300" cy="6858000"/>
          </a:xfrm>
          <a:prstGeom prst="rect">
            <a:avLst/>
          </a:prstGeom>
          <a:solidFill>
            <a:schemeClr val="accent1"/>
          </a:solidFill>
          <a:ln w="1342"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Title"/>
          <p:cNvSpPr>
            <a:spLocks noGrp="1"/>
          </p:cNvSpPr>
          <p:nvPr>
            <p:ph type="title" hasCustomPrompt="1"/>
          </p:nvPr>
        </p:nvSpPr>
        <p:spPr>
          <a:xfrm>
            <a:off x="288000" y="2706317"/>
            <a:ext cx="6633305"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432919900" name="LogoWhite-Dynamic" descr="{&quot;templafy&quot;:{&quot;id&quot;:&quot;2fc7f057-0369-4ed6-8a09-948d28d95ffb&quot;}}"/>
          <p:cNvPicPr>
            <a:picLocks noChangeAspect="1"/>
          </p:cNvPicPr>
          <p:nvPr/>
        </p:nvPicPr>
        <p:blipFill>
          <a:blip r:embed="rId3"/>
          <a:stretch>
            <a:fillRect/>
          </a:stretch>
        </p:blipFill>
        <p:spPr>
          <a:xfrm>
            <a:off x="288006" y="360000"/>
            <a:ext cx="727192" cy="360000"/>
          </a:xfrm>
          <a:prstGeom prst="rect">
            <a:avLst/>
          </a:prstGeom>
        </p:spPr>
      </p:pic>
      <p:sp>
        <p:nvSpPr>
          <p:cNvPr id="8" name="Classification-Dynamic" descr="{&quot;templafy&quot;:{&quot;id&quot;:&quot;9c26c798-5a7f-4e71-a771-0737e45e4efe&quot;}}">
            <a:extLst>
              <a:ext uri="{FF2B5EF4-FFF2-40B4-BE49-F238E27FC236}">
                <a16:creationId xmlns:a16="http://schemas.microsoft.com/office/drawing/2014/main" id="{F1333C1B-AD40-D53A-5A1E-EFB8C6390D4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bg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277845837"/>
      </p:ext>
    </p:extLst>
  </p:cSld>
  <p:clrMapOvr>
    <a:masterClrMapping/>
  </p:clrMapOvr>
  <p:extLst>
    <p:ext uri="{DCECCB84-F9BA-43D5-87BE-67443E8EF086}">
      <p15:sldGuideLst xmlns:p15="http://schemas.microsoft.com/office/powerpoint/2012/main">
        <p15:guide id="1" pos="181" userDrawn="1">
          <p15:clr>
            <a:srgbClr val="FBAE40"/>
          </p15:clr>
        </p15:guide>
        <p15:guide id="2" orient="horz" pos="1704" userDrawn="1">
          <p15:clr>
            <a:srgbClr val="FBAE40"/>
          </p15:clr>
        </p15:guide>
        <p15:guide id="3" orient="horz" pos="2688" userDrawn="1">
          <p15:clr>
            <a:srgbClr val="FBAE40"/>
          </p15:clr>
        </p15:guide>
        <p15:guide id="4" orient="horz" pos="2341" userDrawn="1">
          <p15:clr>
            <a:srgbClr val="FBAE40"/>
          </p15:clr>
        </p15:guide>
        <p15:guide id="5" orient="horz" pos="2960" userDrawn="1">
          <p15:clr>
            <a:srgbClr val="FBAE40"/>
          </p15:clr>
        </p15:guide>
        <p15:guide id="7" orient="horz" pos="41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5175" cy="6858000"/>
          </a:xfrm>
          <a:prstGeom prst="rect">
            <a:avLst/>
          </a:prstGeom>
          <a:solidFill>
            <a:srgbClr val="97DD40"/>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8001" y="2706317"/>
            <a:ext cx="5529704"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9496" y="2029240"/>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dirty="0"/>
              <a:t>         Click to add image</a:t>
            </a:r>
          </a:p>
        </p:txBody>
      </p:sp>
      <p:sp>
        <p:nvSpPr>
          <p:cNvPr id="4" name="Classification-Dynamic" descr="{&quot;templafy&quot;:{&quot;id&quot;:&quot;4fb6f5d1-82cd-4ab1-ae44-7e64d037ef1d&quot;}}">
            <a:extLst>
              <a:ext uri="{FF2B5EF4-FFF2-40B4-BE49-F238E27FC236}">
                <a16:creationId xmlns:a16="http://schemas.microsoft.com/office/drawing/2014/main" id="{13EDB9F6-FBDA-8ED8-A84B-244CC53CFF9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pic>
        <p:nvPicPr>
          <p:cNvPr id="316767171" name="LogoBlack-Dynamic" descr="{&quot;templafy&quot;:{&quot;id&quot;:&quot;6e8f8d3c-486c-440f-9e89-010c51d1337f&quot;}}"/>
          <p:cNvPicPr>
            <a:picLocks noChangeAspect="1"/>
          </p:cNvPicPr>
          <p:nvPr/>
        </p:nvPicPr>
        <p:blipFill>
          <a:blip r:embed="rId2"/>
          <a:stretch>
            <a:fillRect/>
          </a:stretch>
        </p:blipFill>
        <p:spPr>
          <a:xfrm>
            <a:off x="288006" y="360000"/>
            <a:ext cx="727192" cy="360000"/>
          </a:xfrm>
          <a:prstGeom prst="rect">
            <a:avLst/>
          </a:prstGeom>
        </p:spPr>
      </p:pic>
    </p:spTree>
    <p:extLst>
      <p:ext uri="{BB962C8B-B14F-4D97-AF65-F5344CB8AC3E}">
        <p14:creationId xmlns:p14="http://schemas.microsoft.com/office/powerpoint/2010/main" val="1084997862"/>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41">
          <p15:clr>
            <a:srgbClr val="FBAE40"/>
          </p15:clr>
        </p15:guide>
        <p15:guide id="5" orient="horz" pos="2960">
          <p15:clr>
            <a:srgbClr val="FBAE40"/>
          </p15:clr>
        </p15:guide>
        <p15:guide id="7" orient="horz" pos="41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dirty="0"/>
              <a:t>Title Goes Here</a:t>
            </a:r>
            <a:br>
              <a:rPr lang="en-US" dirty="0"/>
            </a:br>
            <a:r>
              <a:rPr lang="en-US" dirty="0"/>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dirty="0"/>
              <a:t>Click to insert picture</a:t>
            </a:r>
          </a:p>
        </p:txBody>
      </p:sp>
      <p:pic>
        <p:nvPicPr>
          <p:cNvPr id="73675286" name="LogoBlue-Dynamic" descr="{&quot;templafy&quot;:{&quot;id&quot;:&quot;f232a519-5ff6-4053-bb5b-b23e1adaee18&quot;}}"/>
          <p:cNvPicPr>
            <a:picLocks noChangeAspect="1"/>
          </p:cNvPicPr>
          <p:nvPr/>
        </p:nvPicPr>
        <p:blipFill>
          <a:blip r:embed="rId2"/>
          <a:stretch>
            <a:fillRect/>
          </a:stretch>
        </p:blipFill>
        <p:spPr>
          <a:xfrm>
            <a:off x="288006" y="6218600"/>
            <a:ext cx="727192" cy="360000"/>
          </a:xfrm>
          <a:prstGeom prst="rect">
            <a:avLst/>
          </a:prstGeom>
        </p:spPr>
      </p:pic>
      <p:sp>
        <p:nvSpPr>
          <p:cNvPr id="9" name="Classification-Dynamic" descr="{&quot;templafy&quot;:{&quot;id&quot;:&quot;27682cf1-0696-470f-9efa-616f4870e8a0&quot;}}">
            <a:extLst>
              <a:ext uri="{FF2B5EF4-FFF2-40B4-BE49-F238E27FC236}">
                <a16:creationId xmlns:a16="http://schemas.microsoft.com/office/drawing/2014/main" id="{CE0C2033-6FDF-7DD6-E25C-C03296FDAD00}"/>
              </a:ext>
            </a:extLst>
          </p:cNvPr>
          <p:cNvSpPr txBox="1"/>
          <p:nvPr userDrawn="1"/>
        </p:nvSpPr>
        <p:spPr>
          <a:xfrm>
            <a:off x="282575" y="5724000"/>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21838505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2441" y="1275473"/>
            <a:ext cx="606934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945490893" name="LogoBlue-Dynamic" descr="{&quot;templafy&quot;:{&quot;id&quot;:&quot;e60c395f-8fa7-41cf-b146-37c7272e7cfb&quot;}}"/>
          <p:cNvPicPr>
            <a:picLocks noChangeAspect="1"/>
          </p:cNvPicPr>
          <p:nvPr/>
        </p:nvPicPr>
        <p:blipFill>
          <a:blip r:embed="rId2"/>
          <a:stretch>
            <a:fillRect/>
          </a:stretch>
        </p:blipFill>
        <p:spPr>
          <a:xfrm>
            <a:off x="288006" y="360000"/>
            <a:ext cx="727192" cy="360000"/>
          </a:xfrm>
          <a:prstGeom prst="rect">
            <a:avLst/>
          </a:prstGeom>
        </p:spPr>
      </p:pic>
      <p:sp>
        <p:nvSpPr>
          <p:cNvPr id="11" name="Classification-Dynamic" descr="{&quot;templafy&quot;:{&quot;id&quot;:&quot;55d87788-2e60-4526-97e4-cc625eeee8de&quot;}}">
            <a:extLst>
              <a:ext uri="{FF2B5EF4-FFF2-40B4-BE49-F238E27FC236}">
                <a16:creationId xmlns:a16="http://schemas.microsoft.com/office/drawing/2014/main" id="{62D91ACB-BD14-46CB-4B61-F4B072D877C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15547614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Ref idx="1001">
        <a:schemeClr val="bg1"/>
      </p:bgRef>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5175" cy="6858000"/>
          </a:xfrm>
          <a:prstGeom prst="rect">
            <a:avLst/>
          </a:prstGeom>
          <a:solidFill>
            <a:srgbClr val="A6E0FF">
              <a:alpha val="42715"/>
            </a:srgbClr>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2" name="Anvil" descr="preencoded.png">
            <a:extLst>
              <a:ext uri="{FF2B5EF4-FFF2-40B4-BE49-F238E27FC236}">
                <a16:creationId xmlns:a16="http://schemas.microsoft.com/office/drawing/2014/main" id="{94093846-CC07-3993-CA62-86004F1C03F9}"/>
              </a:ext>
            </a:extLst>
          </p:cNvPr>
          <p:cNvSpPr/>
          <p:nvPr/>
        </p:nvSpPr>
        <p:spPr>
          <a:xfrm>
            <a:off x="2289865" y="1275473"/>
            <a:ext cx="8851917" cy="4363327"/>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A6E0FF"/>
          </a:solidFill>
          <a:ln w="15238" cap="flat">
            <a:noFill/>
            <a:prstDash val="solid"/>
            <a:miter/>
          </a:ln>
        </p:spPr>
        <p:txBody>
          <a:bodyPr rtlCol="0" anchor="ctr"/>
          <a:lstStyle/>
          <a:p>
            <a:endParaRPr lang="en-US"/>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8000" y="2706317"/>
            <a:ext cx="5929920"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1082763596" name="LogoBlack-Dynamic" descr="{&quot;templafy&quot;:{&quot;id&quot;:&quot;e1ce98cc-b5e7-4d57-bbf2-b85890640f17&quot;}}"/>
          <p:cNvPicPr>
            <a:picLocks noChangeAspect="1"/>
          </p:cNvPicPr>
          <p:nvPr/>
        </p:nvPicPr>
        <p:blipFill>
          <a:blip r:embed="rId2"/>
          <a:stretch>
            <a:fillRect/>
          </a:stretch>
        </p:blipFill>
        <p:spPr>
          <a:xfrm>
            <a:off x="288006" y="360000"/>
            <a:ext cx="727192" cy="360000"/>
          </a:xfrm>
          <a:prstGeom prst="rect">
            <a:avLst/>
          </a:prstGeom>
        </p:spPr>
      </p:pic>
      <p:sp>
        <p:nvSpPr>
          <p:cNvPr id="3" name="Classification-Dynamic" descr="{&quot;templafy&quot;:{&quot;id&quot;:&quot;e21c6111-be2c-44a0-a2aa-df88facd3edb&quot;}}">
            <a:extLst>
              <a:ext uri="{FF2B5EF4-FFF2-40B4-BE49-F238E27FC236}">
                <a16:creationId xmlns:a16="http://schemas.microsoft.com/office/drawing/2014/main" id="{D417CEF6-1FCD-75B6-FA13-C583ECCE7BE5}"/>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13159755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a:p>
        </p:txBody>
      </p:sp>
      <p:sp>
        <p:nvSpPr>
          <p:cNvPr id="8" name="Anvil" descr="preencoded.png">
            <a:extLst>
              <a:ext uri="{FF2B5EF4-FFF2-40B4-BE49-F238E27FC236}">
                <a16:creationId xmlns:a16="http://schemas.microsoft.com/office/drawing/2014/main" id="{39A9B643-3B5A-F0D7-C3BF-3A81DE80FEB6}"/>
              </a:ext>
            </a:extLst>
          </p:cNvPr>
          <p:cNvSpPr/>
          <p:nvPr/>
        </p:nvSpPr>
        <p:spPr>
          <a:xfrm>
            <a:off x="287339" y="935666"/>
            <a:ext cx="6762048" cy="3333180"/>
          </a:xfrm>
          <a:custGeom>
            <a:avLst/>
            <a:gdLst>
              <a:gd name="connsiteX0" fmla="*/ 0 w 6762048"/>
              <a:gd name="connsiteY0" fmla="*/ 0 h 3333180"/>
              <a:gd name="connsiteX1" fmla="*/ 0 w 6762048"/>
              <a:gd name="connsiteY1" fmla="*/ 3333180 h 3333180"/>
              <a:gd name="connsiteX2" fmla="*/ 3436452 w 6762048"/>
              <a:gd name="connsiteY2" fmla="*/ 3333180 h 3333180"/>
              <a:gd name="connsiteX3" fmla="*/ 6762048 w 6762048"/>
              <a:gd name="connsiteY3" fmla="*/ 0 h 3333180"/>
              <a:gd name="connsiteX4" fmla="*/ 0 w 6762048"/>
              <a:gd name="connsiteY4" fmla="*/ 0 h 333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048" h="3333180">
                <a:moveTo>
                  <a:pt x="0" y="0"/>
                </a:moveTo>
                <a:lnTo>
                  <a:pt x="0" y="3333180"/>
                </a:lnTo>
                <a:lnTo>
                  <a:pt x="3436452" y="3333180"/>
                </a:lnTo>
                <a:lnTo>
                  <a:pt x="6762048" y="0"/>
                </a:lnTo>
                <a:lnTo>
                  <a:pt x="0" y="0"/>
                </a:lnTo>
                <a:close/>
              </a:path>
            </a:pathLst>
          </a:custGeom>
          <a:solidFill>
            <a:srgbClr val="002A86"/>
          </a:solidFill>
          <a:ln w="9264" cap="flat">
            <a:noFill/>
            <a:prstDash val="solid"/>
            <a:miter/>
          </a:ln>
        </p:spPr>
        <p:txBody>
          <a:bodyPr rtlCol="0" anchor="ctr"/>
          <a:lstStyle/>
          <a:p>
            <a:endParaRPr lang="en-US"/>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8000" y="2706317"/>
            <a:ext cx="6876593" cy="997196"/>
          </a:xfrm>
        </p:spPr>
        <p:txBody>
          <a:bodyPr>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1482374887" name="LogoWhite-Dynamic" descr="{&quot;templafy&quot;:{&quot;id&quot;:&quot;1c29bb78-5811-4cd4-811f-7882c0a69982&quot;}}"/>
          <p:cNvPicPr>
            <a:picLocks noChangeAspect="1"/>
          </p:cNvPicPr>
          <p:nvPr/>
        </p:nvPicPr>
        <p:blipFill>
          <a:blip r:embed="rId2"/>
          <a:stretch>
            <a:fillRect/>
          </a:stretch>
        </p:blipFill>
        <p:spPr>
          <a:xfrm>
            <a:off x="288006" y="360000"/>
            <a:ext cx="727192" cy="360000"/>
          </a:xfrm>
          <a:prstGeom prst="rect">
            <a:avLst/>
          </a:prstGeom>
        </p:spPr>
      </p:pic>
      <p:sp>
        <p:nvSpPr>
          <p:cNvPr id="3" name="Classification-Dynamic" descr="{&quot;templafy&quot;:{&quot;id&quot;:&quot;58f345ad-7bdb-419e-8713-85ce06a158f4&quot;}}">
            <a:extLst>
              <a:ext uri="{FF2B5EF4-FFF2-40B4-BE49-F238E27FC236}">
                <a16:creationId xmlns:a16="http://schemas.microsoft.com/office/drawing/2014/main" id="{D67AB148-356D-F356-4E6C-9664D9EB9DF3}"/>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bg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42932821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870433" y="989322"/>
            <a:ext cx="9187967"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8000" y="2706317"/>
            <a:ext cx="5929920"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900788501" name="LogoBlack-Dynamic" descr="{&quot;templafy&quot;:{&quot;id&quot;:&quot;c1eb01f2-9e1f-430d-b8b5-2c5ca45c20b6&quot;}}"/>
          <p:cNvPicPr>
            <a:picLocks noChangeAspect="1"/>
          </p:cNvPicPr>
          <p:nvPr/>
        </p:nvPicPr>
        <p:blipFill>
          <a:blip r:embed="rId2"/>
          <a:stretch>
            <a:fillRect/>
          </a:stretch>
        </p:blipFill>
        <p:spPr>
          <a:xfrm>
            <a:off x="288006" y="360000"/>
            <a:ext cx="727192" cy="360000"/>
          </a:xfrm>
          <a:prstGeom prst="rect">
            <a:avLst/>
          </a:prstGeom>
        </p:spPr>
      </p:pic>
      <p:sp>
        <p:nvSpPr>
          <p:cNvPr id="3" name="Classification-Dynamic" descr="{&quot;templafy&quot;:{&quot;id&quot;:&quot;790acb4e-ca71-45a1-a6aa-15bb3a352e16&quot;}}">
            <a:extLst>
              <a:ext uri="{FF2B5EF4-FFF2-40B4-BE49-F238E27FC236}">
                <a16:creationId xmlns:a16="http://schemas.microsoft.com/office/drawing/2014/main" id="{BBFBBDC3-D031-6041-465D-9F7147F423CF}"/>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29102200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8700" y="0"/>
            <a:ext cx="6086475" cy="6858000"/>
          </a:xfrm>
        </p:spPr>
        <p:txBody>
          <a:bodyPr anchor="ctr" anchorCtr="0"/>
          <a:lstStyle>
            <a:lvl1pPr algn="ctr">
              <a:defRPr/>
            </a:lvl1pPr>
          </a:lstStyle>
          <a:p>
            <a:r>
              <a:rPr lang="en-US" dirty="0"/>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1608403681" name="LogoBlue-Dynamic" descr="{&quot;templafy&quot;:{&quot;id&quot;:&quot;4730df89-118a-4dac-850a-22582fba25ef&quot;}}"/>
          <p:cNvPicPr>
            <a:picLocks noChangeAspect="1"/>
          </p:cNvPicPr>
          <p:nvPr/>
        </p:nvPicPr>
        <p:blipFill>
          <a:blip r:embed="rId3"/>
          <a:stretch>
            <a:fillRect/>
          </a:stretch>
        </p:blipFill>
        <p:spPr>
          <a:xfrm>
            <a:off x="288006" y="360000"/>
            <a:ext cx="727192" cy="360000"/>
          </a:xfrm>
          <a:prstGeom prst="rect">
            <a:avLst/>
          </a:prstGeom>
        </p:spPr>
      </p:pic>
      <p:sp>
        <p:nvSpPr>
          <p:cNvPr id="3" name="Classification-Dynamic" descr="{&quot;templafy&quot;:{&quot;id&quot;:&quot;3b3005ec-996c-4d76-a358-795127b0f977&quot;}}">
            <a:extLst>
              <a:ext uri="{FF2B5EF4-FFF2-40B4-BE49-F238E27FC236}">
                <a16:creationId xmlns:a16="http://schemas.microsoft.com/office/drawing/2014/main" id="{4A078429-99DD-7555-B0F4-FEF46FD297B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tx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10436557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0"/>
            <a:ext cx="12195175"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355" y="1156532"/>
            <a:ext cx="5613722"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2" y="0"/>
            <a:ext cx="4359114" cy="6858000"/>
          </a:xfrm>
        </p:spPr>
        <p:txBody>
          <a:bodyPr anchor="ctr" anchorCtr="0"/>
          <a:lstStyle>
            <a:lvl1pPr algn="ctr">
              <a:defRPr>
                <a:solidFill>
                  <a:schemeClr val="bg1"/>
                </a:solidFill>
              </a:defRPr>
            </a:lvl1pPr>
          </a:lstStyle>
          <a:p>
            <a:r>
              <a:rPr lang="en-US" dirty="0"/>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440401" y="2206502"/>
            <a:ext cx="5529704" cy="997196"/>
          </a:xfrm>
        </p:spPr>
        <p:txBody>
          <a:bodyPr>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Arial Unicode MS" pitchFamily="34" charset="-128"/>
              <a:cs typeface="Arial Unicode MS" pitchFamily="34" charset="-128"/>
            </a:endParaRPr>
          </a:p>
        </p:txBody>
      </p:sp>
      <p:pic>
        <p:nvPicPr>
          <p:cNvPr id="1743685208" name="LogoWhite-Dynamic" descr="{&quot;templafy&quot;:{&quot;id&quot;:&quot;c91d4f96-eb02-4c57-a0e1-338790f88ede&quot;}}"/>
          <p:cNvPicPr>
            <a:picLocks noChangeAspect="1"/>
          </p:cNvPicPr>
          <p:nvPr/>
        </p:nvPicPr>
        <p:blipFill>
          <a:blip r:embed="rId2"/>
          <a:stretch>
            <a:fillRect/>
          </a:stretch>
        </p:blipFill>
        <p:spPr>
          <a:xfrm>
            <a:off x="288006" y="360000"/>
            <a:ext cx="727192" cy="360000"/>
          </a:xfrm>
          <a:prstGeom prst="rect">
            <a:avLst/>
          </a:prstGeom>
        </p:spPr>
      </p:pic>
      <p:sp>
        <p:nvSpPr>
          <p:cNvPr id="5" name="Classification-Dynamic" descr="{&quot;templafy&quot;:{&quot;id&quot;:&quot;54a69f23-ff76-4f65-96bb-a6bf00e9647f&quot;}}">
            <a:extLst>
              <a:ext uri="{FF2B5EF4-FFF2-40B4-BE49-F238E27FC236}">
                <a16:creationId xmlns:a16="http://schemas.microsoft.com/office/drawing/2014/main" id="{7A6CB977-D711-D436-9DC2-AAFCC56F9CAA}"/>
              </a:ext>
            </a:extLst>
          </p:cNvPr>
          <p:cNvSpPr txBox="1"/>
          <p:nvPr userDrawn="1"/>
        </p:nvSpPr>
        <p:spPr>
          <a:xfrm>
            <a:off x="440401"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r>
              <a:rPr lang="en-US" sz="1000" b="0" i="0" kern="0" dirty="0">
                <a:solidFill>
                  <a:schemeClr val="bg1"/>
                </a:solidFill>
                <a:latin typeface="72 Brand" panose="020B0504030603020204" pitchFamily="34" charset="0"/>
                <a:ea typeface="Arial Unicode MS" pitchFamily="34" charset="-128"/>
                <a:cs typeface="Arial Unicode MS" pitchFamily="34" charset="-128"/>
              </a:rPr>
              <a:t>INTERNAL – SAP and Partners Only</a:t>
            </a:r>
          </a:p>
        </p:txBody>
      </p:sp>
    </p:spTree>
    <p:extLst>
      <p:ext uri="{BB962C8B-B14F-4D97-AF65-F5344CB8AC3E}">
        <p14:creationId xmlns:p14="http://schemas.microsoft.com/office/powerpoint/2010/main" val="19797496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7" orient="horz" pos="41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3238" y="1580844"/>
            <a:ext cx="11185200" cy="4764394"/>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tx1"/>
              </a:buClr>
              <a:buSzPct val="100000"/>
              <a:buFont typeface="Arial" panose="020B0604020202020204" pitchFamily="34" charset="0"/>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b="0" i="0">
                <a:latin typeface="72 Brand Medium" panose="020B0504030603020204" pitchFamily="34" charset="0"/>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1" pos="303" userDrawn="1">
          <p15:clr>
            <a:srgbClr val="FBAE40"/>
          </p15:clr>
        </p15:guide>
        <p15:guide id="2" orient="horz" pos="981"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extLst>
    <p:ext uri="{DCECCB84-F9BA-43D5-87BE-67443E8EF086}">
      <p15:sldGuideLst xmlns:p15="http://schemas.microsoft.com/office/powerpoint/2012/main">
        <p15:guide id="1" pos="303"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2" pos="7364" userDrawn="1">
          <p15:clr>
            <a:srgbClr val="FBAE40"/>
          </p15:clr>
        </p15:guide>
        <p15:guide id="3" pos="303"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3514533024"/>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2" pos="7364" userDrawn="1">
          <p15:clr>
            <a:srgbClr val="FBAE40"/>
          </p15:clr>
        </p15:guide>
        <p15:guide id="3" pos="303"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extLst>
    <p:ext uri="{DCECCB84-F9BA-43D5-87BE-67443E8EF086}">
      <p15:sldGuideLst xmlns:p15="http://schemas.microsoft.com/office/powerpoint/2012/main">
        <p15:guide id="1" pos="303" userDrawn="1">
          <p15:clr>
            <a:srgbClr val="FBAE40"/>
          </p15:clr>
        </p15:guide>
        <p15:guide id="2" orient="horz" pos="317" userDrawn="1">
          <p15:clr>
            <a:srgbClr val="FBAE40"/>
          </p15:clr>
        </p15:guide>
        <p15:guide id="3" pos="7364" userDrawn="1">
          <p15:clr>
            <a:srgbClr val="FBAE40"/>
          </p15:clr>
        </p15:guide>
        <p15:guide id="4" orient="horz" pos="551" userDrawn="1">
          <p15:clr>
            <a:srgbClr val="FBAE40"/>
          </p15:clr>
        </p15:guide>
        <p15:guide id="5" orient="horz" pos="399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1650" y="1557338"/>
            <a:ext cx="11186477"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7"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9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557338"/>
            <a:ext cx="5328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57338"/>
            <a:ext cx="5328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7" userDrawn="1">
          <p15:clr>
            <a:srgbClr val="FBAE40"/>
          </p15:clr>
        </p15:guide>
        <p15:guide id="3" pos="7364" userDrawn="1">
          <p15:clr>
            <a:srgbClr val="FBAE40"/>
          </p15:clr>
        </p15:guide>
        <p15:guide id="4" pos="3674" userDrawn="1">
          <p15:clr>
            <a:srgbClr val="FBAE40"/>
          </p15:clr>
        </p15:guide>
        <p15:guide id="5" pos="4007" userDrawn="1">
          <p15:clr>
            <a:srgbClr val="FBAE40"/>
          </p15:clr>
        </p15:guide>
        <p15:guide id="6" orient="horz" pos="317" userDrawn="1">
          <p15:clr>
            <a:srgbClr val="FBAE40"/>
          </p15:clr>
        </p15:guide>
        <p15:guide id="7" orient="horz" pos="551" userDrawn="1">
          <p15:clr>
            <a:srgbClr val="FBAE40"/>
          </p15:clr>
        </p15:guide>
        <p15:guide id="8" orient="horz" pos="9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57338"/>
            <a:ext cx="3564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557338"/>
            <a:ext cx="3564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57338"/>
            <a:ext cx="3564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563" userDrawn="1">
          <p15:clr>
            <a:srgbClr val="FBAE40"/>
          </p15:clr>
        </p15:guide>
        <p15:guide id="4" pos="2717" userDrawn="1">
          <p15:clr>
            <a:srgbClr val="FBAE40"/>
          </p15:clr>
        </p15:guide>
        <p15:guide id="5" pos="4964" userDrawn="1">
          <p15:clr>
            <a:srgbClr val="FBAE40"/>
          </p15:clr>
        </p15:guide>
        <p15:guide id="6" pos="5119" userDrawn="1">
          <p15:clr>
            <a:srgbClr val="FBAE40"/>
          </p15:clr>
        </p15:guide>
        <p15:guide id="7" pos="7364" userDrawn="1">
          <p15:clr>
            <a:srgbClr val="FBAE40"/>
          </p15:clr>
        </p15:guide>
        <p15:guide id="8" orient="horz" pos="551" userDrawn="1">
          <p15:clr>
            <a:srgbClr val="FBAE40"/>
          </p15:clr>
        </p15:guide>
        <p15:guide id="9" orient="horz" pos="981" userDrawn="1">
          <p15:clr>
            <a:srgbClr val="FBAE40"/>
          </p15:clr>
        </p15:guide>
        <p15:guide id="10" orient="horz" pos="39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362477" y="1557337"/>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75238"/>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57337"/>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981" userDrawn="1">
          <p15:clr>
            <a:srgbClr val="FBAE40"/>
          </p15:clr>
        </p15:guide>
        <p15:guide id="5" orient="horz" pos="2750" userDrawn="1">
          <p15:clr>
            <a:srgbClr val="FBAE40"/>
          </p15:clr>
        </p15:guide>
        <p15:guide id="6" orient="horz" pos="3004" userDrawn="1">
          <p15:clr>
            <a:srgbClr val="FBAE40"/>
          </p15:clr>
        </p15:guide>
        <p15:guide id="7" orient="horz" pos="3997" userDrawn="1">
          <p15:clr>
            <a:srgbClr val="FBAE40"/>
          </p15:clr>
        </p15:guide>
        <p15:guide id="8" pos="3682" userDrawn="1">
          <p15:clr>
            <a:srgbClr val="FBAE40"/>
          </p15:clr>
        </p15:guide>
        <p15:guide id="9" pos="4000" userDrawn="1">
          <p15:clr>
            <a:srgbClr val="FBAE40"/>
          </p15:clr>
        </p15:guide>
        <p15:guide id="10" pos="736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299277" y="1557338"/>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401639" y="1557338"/>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57338"/>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pos="2455" userDrawn="1">
          <p15:clr>
            <a:srgbClr val="FBAE40"/>
          </p15:clr>
        </p15:guide>
        <p15:guide id="4" pos="2773" userDrawn="1">
          <p15:clr>
            <a:srgbClr val="FBAE40"/>
          </p15:clr>
        </p15:guide>
        <p15:guide id="5" pos="4910" userDrawn="1">
          <p15:clr>
            <a:srgbClr val="FBAE40"/>
          </p15:clr>
        </p15:guide>
        <p15:guide id="6" pos="5227" userDrawn="1">
          <p15:clr>
            <a:srgbClr val="FBAE40"/>
          </p15:clr>
        </p15:guide>
        <p15:guide id="7" pos="7364" userDrawn="1">
          <p15:clr>
            <a:srgbClr val="FBAE40"/>
          </p15:clr>
        </p15:guide>
        <p15:guide id="8" orient="horz" pos="551" userDrawn="1">
          <p15:clr>
            <a:srgbClr val="FBAE40"/>
          </p15:clr>
        </p15:guide>
        <p15:guide id="9" orient="horz" pos="981" userDrawn="1">
          <p15:clr>
            <a:srgbClr val="FBAE40"/>
          </p15:clr>
        </p15:guide>
        <p15:guide id="10" orient="horz" pos="2428" userDrawn="1">
          <p15:clr>
            <a:srgbClr val="FBAE40"/>
          </p15:clr>
        </p15:guide>
        <p15:guide id="11" orient="horz" pos="2743" userDrawn="1">
          <p15:clr>
            <a:srgbClr val="FBAE40"/>
          </p15:clr>
        </p15:guide>
        <p15:guide id="12" orient="horz" pos="39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557337"/>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557337"/>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557337"/>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557337"/>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981" userDrawn="1">
          <p15:clr>
            <a:srgbClr val="FBAE40"/>
          </p15:clr>
        </p15:guide>
        <p15:guide id="5" orient="horz" pos="2160" userDrawn="1">
          <p15:clr>
            <a:srgbClr val="FBAE40"/>
          </p15:clr>
        </p15:guide>
        <p15:guide id="6" orient="horz" pos="2442" userDrawn="1">
          <p15:clr>
            <a:srgbClr val="FBAE40"/>
          </p15:clr>
        </p15:guide>
        <p15:guide id="7" orient="horz" pos="3990" userDrawn="1">
          <p15:clr>
            <a:srgbClr val="FBAE40"/>
          </p15:clr>
        </p15:guide>
        <p15:guide id="8" pos="1840" userDrawn="1">
          <p15:clr>
            <a:srgbClr val="FBAE40"/>
          </p15:clr>
        </p15:guide>
        <p15:guide id="9" pos="2159" userDrawn="1">
          <p15:clr>
            <a:srgbClr val="FBAE40"/>
          </p15:clr>
        </p15:guide>
        <p15:guide id="10" pos="3683" userDrawn="1">
          <p15:clr>
            <a:srgbClr val="FBAE40"/>
          </p15:clr>
        </p15:guide>
        <p15:guide id="11" pos="4000" userDrawn="1">
          <p15:clr>
            <a:srgbClr val="FBAE40"/>
          </p15:clr>
        </p15:guide>
        <p15:guide id="12" pos="5525" userDrawn="1">
          <p15:clr>
            <a:srgbClr val="FBAE40"/>
          </p15:clr>
        </p15:guide>
        <p15:guide id="13" pos="5842" userDrawn="1">
          <p15:clr>
            <a:srgbClr val="FBAE40"/>
          </p15:clr>
        </p15:guide>
        <p15:guide id="14" pos="736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0" i="0">
                <a:latin typeface="72 Brand Medium" panose="020B0504030603020204" pitchFamily="34" charset="0"/>
              </a:defRPr>
            </a:lvl1pPr>
            <a:lvl2pPr marL="395921" indent="0">
              <a:buNone/>
              <a:defRPr sz="16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932785900"/>
      </p:ext>
    </p:extLst>
  </p:cSld>
  <p:clrMapOvr>
    <a:masterClrMapping/>
  </p:clrMapOvr>
  <p:extLst>
    <p:ext uri="{DCECCB84-F9BA-43D5-87BE-67443E8EF086}">
      <p15:sldGuideLst xmlns:p15="http://schemas.microsoft.com/office/powerpoint/2012/main">
        <p15:guide id="1" pos="317" userDrawn="1">
          <p15:clr>
            <a:srgbClr val="FBAE40"/>
          </p15:clr>
        </p15:guide>
        <p15:guide id="4" orient="horz" pos="1133" userDrawn="1">
          <p15:clr>
            <a:srgbClr val="FBAE40"/>
          </p15:clr>
        </p15:guide>
        <p15:guide id="5" orient="horz" pos="3204" userDrawn="1">
          <p15:clr>
            <a:srgbClr val="FBAE40"/>
          </p15:clr>
        </p15:guide>
        <p15:guide id="6" pos="7363"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557338"/>
            <a:ext cx="7092000" cy="477866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991" userDrawn="1">
          <p15:clr>
            <a:srgbClr val="FBAE40"/>
          </p15:clr>
        </p15:guide>
        <p15:guide id="3" pos="4786" userDrawn="1">
          <p15:clr>
            <a:srgbClr val="FBAE40"/>
          </p15:clr>
        </p15:guide>
        <p15:guide id="4" pos="5111" userDrawn="1">
          <p15:clr>
            <a:srgbClr val="FBAE40"/>
          </p15:clr>
        </p15:guide>
        <p15:guide id="5" orient="horz" pos="317" userDrawn="1">
          <p15:clr>
            <a:srgbClr val="FBAE40"/>
          </p15:clr>
        </p15:guide>
        <p15:guide id="6" orient="horz" pos="551" userDrawn="1">
          <p15:clr>
            <a:srgbClr val="FBAE40"/>
          </p15:clr>
        </p15:guide>
        <p15:guide id="7" orient="horz" pos="9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557338"/>
            <a:ext cx="5328000" cy="4778662"/>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Arial" panose="020B0604020202020204" pitchFamily="34" charset="0"/>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557338"/>
            <a:ext cx="5328000" cy="477866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981" userDrawn="1">
          <p15:clr>
            <a:srgbClr val="FBAE40"/>
          </p15:clr>
        </p15:guide>
        <p15:guide id="3" pos="3674" userDrawn="1">
          <p15:clr>
            <a:srgbClr val="FBAE40"/>
          </p15:clr>
        </p15:guide>
        <p15:guide id="4" pos="4008" userDrawn="1">
          <p15:clr>
            <a:srgbClr val="FBAE40"/>
          </p15:clr>
        </p15:guide>
        <p15:guide id="5" pos="7364" userDrawn="1">
          <p15:clr>
            <a:srgbClr val="FBAE40"/>
          </p15:clr>
        </p15:guide>
        <p15:guide id="6" orient="horz" pos="317" userDrawn="1">
          <p15:clr>
            <a:srgbClr val="FBAE40"/>
          </p15:clr>
        </p15:guide>
        <p15:guide id="7" orient="horz" pos="551" userDrawn="1">
          <p15:clr>
            <a:srgbClr val="FBAE40"/>
          </p15:clr>
        </p15:guide>
        <p15:guide id="8" orient="horz" pos="399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57338"/>
            <a:ext cx="11185200" cy="4778662"/>
          </a:xfrm>
          <a:no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1" pos="317" userDrawn="1">
          <p15:clr>
            <a:srgbClr val="FBAE40"/>
          </p15:clr>
        </p15:guide>
        <p15:guide id="2" orient="horz" pos="317" userDrawn="1">
          <p15:clr>
            <a:srgbClr val="FBAE40"/>
          </p15:clr>
        </p15:guide>
        <p15:guide id="3" orient="horz" pos="551" userDrawn="1">
          <p15:clr>
            <a:srgbClr val="FBAE40"/>
          </p15:clr>
        </p15:guide>
        <p15:guide id="4" orient="horz" pos="981" userDrawn="1">
          <p15:clr>
            <a:srgbClr val="FBAE40"/>
          </p15:clr>
        </p15:guide>
        <p15:guide id="5" orient="horz" pos="3991" userDrawn="1">
          <p15:clr>
            <a:srgbClr val="FBAE40"/>
          </p15:clr>
        </p15:guide>
        <p15:guide id="6" pos="736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b="0" i="0" dirty="0">
                <a:latin typeface="+mn-lt"/>
              </a:rPr>
              <a:t>Contact information:</a:t>
            </a:r>
          </a:p>
        </p:txBody>
      </p:sp>
      <p:sp>
        <p:nvSpPr>
          <p:cNvPr id="9" name="Copyright - Dynamic" descr="{&quot;templafy&quot;:{&quot;id&quot;:&quot;eb9adf6b-a999-43b4-87a5-c81e58f16e94&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dirty="0">
                <a:latin typeface="+mn-lt"/>
              </a:rPr>
              <a:t>© 2023 SAP SE or an SAP affiliate company. All rights reserved. See Legal Notice on www.sap.com/legal-notice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20825"/>
            <a:ext cx="5413477" cy="846386"/>
          </a:xfrm>
        </p:spPr>
        <p:txBody>
          <a:bodyPr/>
          <a:lstStyle>
            <a:lvl1pPr>
              <a:defRPr sz="5500" b="0" i="0">
                <a:latin typeface="72 Brand Medium" panose="020B0504030603020204" pitchFamily="34" charset="0"/>
              </a:defRPr>
            </a:lvl1pPr>
          </a:lstStyle>
          <a:p>
            <a:r>
              <a:rPr lang="en-GB" dirty="0"/>
              <a:t>Thank you.</a:t>
            </a:r>
            <a:endParaRPr lang="en-US" dirty="0"/>
          </a:p>
        </p:txBody>
      </p:sp>
      <p:pic>
        <p:nvPicPr>
          <p:cNvPr id="2" name="Picture 1">
            <a:extLst>
              <a:ext uri="{FF2B5EF4-FFF2-40B4-BE49-F238E27FC236}">
                <a16:creationId xmlns:a16="http://schemas.microsoft.com/office/drawing/2014/main" id="{2A23274F-1EBD-A73A-AC54-963A234E9EB2}"/>
              </a:ext>
            </a:extLst>
          </p:cNvPr>
          <p:cNvPicPr>
            <a:picLocks noChangeAspect="1"/>
          </p:cNvPicPr>
          <p:nvPr userDrawn="1"/>
        </p:nvPicPr>
        <p:blipFill>
          <a:blip r:embed="rId2"/>
          <a:stretch>
            <a:fillRect/>
          </a:stretch>
        </p:blipFill>
        <p:spPr>
          <a:xfrm>
            <a:off x="10963291" y="5990000"/>
            <a:ext cx="727059"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extLst>
    <p:ext uri="{DCECCB84-F9BA-43D5-87BE-67443E8EF086}">
      <p15:sldGuideLst xmlns:p15="http://schemas.microsoft.com/office/powerpoint/2012/main">
        <p15:guide id="1" pos="7364" userDrawn="1">
          <p15:clr>
            <a:srgbClr val="FBAE40"/>
          </p15:clr>
        </p15:guide>
        <p15:guide id="2" orient="horz" pos="958" userDrawn="1">
          <p15:clr>
            <a:srgbClr val="FBAE40"/>
          </p15:clr>
        </p15:guide>
        <p15:guide id="4" orient="horz" pos="1830" userDrawn="1">
          <p15:clr>
            <a:srgbClr val="FBAE40"/>
          </p15:clr>
        </p15:guide>
        <p15:guide id="5" orient="horz" pos="4000" userDrawn="1">
          <p15:clr>
            <a:srgbClr val="FBAE40"/>
          </p15:clr>
        </p15:guide>
        <p15:guide id="6" pos="317" userDrawn="1">
          <p15:clr>
            <a:srgbClr val="FBAE40"/>
          </p15:clr>
        </p15:guide>
        <p15:guide id="8" pos="3841" userDrawn="1">
          <p15:clr>
            <a:srgbClr val="FBAE40"/>
          </p15:clr>
        </p15:guide>
        <p15:guide id="9" orient="horz" pos="31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7969FAC-D954-091A-DEAA-A068B61E788B}"/>
              </a:ext>
            </a:extLst>
          </p:cNvPr>
          <p:cNvGraphicFramePr>
            <a:graphicFrameLocks noChangeAspect="1"/>
          </p:cNvGraphicFramePr>
          <p:nvPr userDrawn="1">
            <p:custDataLst>
              <p:tags r:id="rId1"/>
            </p:custDataLst>
            <p:extLst>
              <p:ext uri="{D42A27DB-BD31-4B8C-83A1-F6EECF244321}">
                <p14:modId xmlns:p14="http://schemas.microsoft.com/office/powerpoint/2010/main" val="533012078"/>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97969FAC-D954-091A-DEAA-A068B61E788B}"/>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 name="Text placeholder"/>
          <p:cNvSpPr>
            <a:spLocks noGrp="1"/>
          </p:cNvSpPr>
          <p:nvPr>
            <p:ph type="body" sz="quarter" idx="10" hasCustomPrompt="1"/>
          </p:nvPr>
        </p:nvSpPr>
        <p:spPr>
          <a:xfrm>
            <a:off x="501652" y="1557338"/>
            <a:ext cx="11186477"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1"/>
            <a:ext cx="11186476" cy="276999"/>
          </a:xfrm>
        </p:spPr>
        <p:txBody>
          <a:bodyPr vert="horz"/>
          <a:lstStyle>
            <a:lvl1pPr>
              <a:defRPr sz="1800" b="0"/>
            </a:lvl1pPr>
          </a:lstStyle>
          <a:p>
            <a:r>
              <a:rPr lang="en-US" noProof="0"/>
              <a:t>Insert page title (sentence case)</a:t>
            </a:r>
            <a:endParaRPr lang="en-US"/>
          </a:p>
        </p:txBody>
      </p:sp>
    </p:spTree>
    <p:extLst>
      <p:ext uri="{BB962C8B-B14F-4D97-AF65-F5344CB8AC3E}">
        <p14:creationId xmlns:p14="http://schemas.microsoft.com/office/powerpoint/2010/main" val="4171058929"/>
      </p:ext>
    </p:extLst>
  </p:cSld>
  <p:clrMapOvr>
    <a:masterClrMapping/>
  </p:clrMapOvr>
  <p:extLst>
    <p:ext uri="{DCECCB84-F9BA-43D5-87BE-67443E8EF086}">
      <p15:sldGuideLst xmlns:p15="http://schemas.microsoft.com/office/powerpoint/2012/main">
        <p15:guide id="1" pos="316">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8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nd Tex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835894326"/>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tags" Target="../tags/tag3.xml"/><Relationship Id="rId36" Type="http://schemas.openxmlformats.org/officeDocument/2006/relationships/tags" Target="../tags/tag4.xml"/><Relationship Id="rId37" Type="http://schemas.openxmlformats.org/officeDocument/2006/relationships/tags" Target="../tags/tag5.xml"/><Relationship Id="rId38" Type="http://schemas.openxmlformats.org/officeDocument/2006/relationships/tags" Target="../tags/tag6.xml"/><Relationship Id="rId39" Type="http://schemas.openxmlformats.org/officeDocument/2006/relationships/tags" Target="../tags/tag7.xml"/><Relationship Id="rId40" Type="http://schemas.openxmlformats.org/officeDocument/2006/relationships/tags" Target="../tags/tag8.xml"/><Relationship Id="rId41" Type="http://schemas.openxmlformats.org/officeDocument/2006/relationships/tags" Target="../tags/tag9.xml"/><Relationship Id="rId42" Type="http://schemas.openxmlformats.org/officeDocument/2006/relationships/tags" Target="../tags/tag10.xml"/><Relationship Id="rId43" Type="http://schemas.openxmlformats.org/officeDocument/2006/relationships/tags" Target="../tags/tag11.xml"/><Relationship Id="rId44" Type="http://schemas.openxmlformats.org/officeDocument/2006/relationships/tags" Target="../tags/tag12.xml"/><Relationship Id="rId45" Type="http://schemas.openxmlformats.org/officeDocument/2006/relationships/tags" Target="../tags/tag13.xml"/><Relationship Id="rId46" Type="http://schemas.openxmlformats.org/officeDocument/2006/relationships/tags" Target="../tags/tag14.xml"/><Relationship Id="rId47" Type="http://schemas.openxmlformats.org/officeDocument/2006/relationships/tags" Target="../tags/tag15.xml"/><Relationship Id="rId48" Type="http://schemas.openxmlformats.org/officeDocument/2006/relationships/tags" Target="../tags/tag16.xml"/><Relationship Id="rId49" Type="http://schemas.openxmlformats.org/officeDocument/2006/relationships/tags" Target="../tags/tag17.xml"/><Relationship Id="rId50" Type="http://schemas.openxmlformats.org/officeDocument/2006/relationships/tags" Target="../tags/tag18.xml"/><Relationship Id="rId51" Type="http://schemas.openxmlformats.org/officeDocument/2006/relationships/tags" Target="../tags/tag19.xml"/><Relationship Id="rId52" Type="http://schemas.openxmlformats.org/officeDocument/2006/relationships/tags" Target="../tags/tag20.xml"/><Relationship Id="rId53" Type="http://schemas.openxmlformats.org/officeDocument/2006/relationships/tags" Target="../tags/tag21.xml"/><Relationship Id="rId54" Type="http://schemas.openxmlformats.org/officeDocument/2006/relationships/tags" Target="../tags/tag22.xml"/><Relationship Id="rId55" Type="http://schemas.openxmlformats.org/officeDocument/2006/relationships/tags" Target="../tags/tag23.xml"/><Relationship Id="rId56" Type="http://schemas.openxmlformats.org/officeDocument/2006/relationships/tags" Target="../tags/tag24.xml"/><Relationship Id="rId57" Type="http://schemas.openxmlformats.org/officeDocument/2006/relationships/tags" Target="../tags/tag25.xml"/><Relationship Id="rId58" Type="http://schemas.openxmlformats.org/officeDocument/2006/relationships/tags" Target="../tags/tag26.xml"/><Relationship Id="rId59" Type="http://schemas.openxmlformats.org/officeDocument/2006/relationships/tags" Target="../tags/tag27.xml"/><Relationship Id="rId60" Type="http://schemas.openxmlformats.org/officeDocument/2006/relationships/tags" Target="../tags/tag28.xml"/><Relationship Id="rId61" Type="http://schemas.openxmlformats.org/officeDocument/2006/relationships/tags" Target="../tags/tag29.xml"/><Relationship Id="rId62" Type="http://schemas.openxmlformats.org/officeDocument/2006/relationships/tags" Target="../tags/tag30.xml"/><Relationship Id="rId63" Type="http://schemas.openxmlformats.org/officeDocument/2006/relationships/tags" Target="../tags/tag31.xml"/><Relationship Id="rId64" Type="http://schemas.openxmlformats.org/officeDocument/2006/relationships/tags" Target="../tags/tag32.xml"/><Relationship Id="rId65" Type="http://schemas.openxmlformats.org/officeDocument/2006/relationships/tags" Target="../tags/tag33.xml"/><Relationship Id="rId66" Type="http://schemas.openxmlformats.org/officeDocument/2006/relationships/tags" Target="../tags/tag34.xml"/><Relationship Id="rId67" Type="http://schemas.openxmlformats.org/officeDocument/2006/relationships/tags" Target="../tags/tag35.xml"/><Relationship Id="rId68" Type="http://schemas.openxmlformats.org/officeDocument/2006/relationships/tags" Target="../tags/tag36.xml"/><Relationship Id="rId69" Type="http://schemas.openxmlformats.org/officeDocument/2006/relationships/tags" Target="../tags/tag37.xml"/><Relationship Id="rId70" Type="http://schemas.openxmlformats.org/officeDocument/2006/relationships/tags" Target="../tags/tag38.xml"/><Relationship Id="rId71" Type="http://schemas.openxmlformats.org/officeDocument/2006/relationships/tags" Target="../tags/tag39.xml"/><Relationship Id="rId72" Type="http://schemas.openxmlformats.org/officeDocument/2006/relationships/tags" Target="../tags/tag40.xml"/><Relationship Id="rId73" Type="http://schemas.openxmlformats.org/officeDocument/2006/relationships/tags" Target="../tags/tag41.xml"/><Relationship Id="rId74" Type="http://schemas.openxmlformats.org/officeDocument/2006/relationships/tags" Target="../tags/tag42.xml"/><Relationship Id="rId75" Type="http://schemas.openxmlformats.org/officeDocument/2006/relationships/tags" Target="../tags/tag43.xml"/><Relationship Id="rId76" Type="http://schemas.openxmlformats.org/officeDocument/2006/relationships/tags" Target="../tags/tag44.xml"/><Relationship Id="rId77" Type="http://schemas.openxmlformats.org/officeDocument/2006/relationships/tags" Target="../tags/tag45.xml"/><Relationship Id="rId78" Type="http://schemas.openxmlformats.org/officeDocument/2006/relationships/tags" Target="../tags/tag46.xml"/><Relationship Id="rId79" Type="http://schemas.openxmlformats.org/officeDocument/2006/relationships/tags" Target="../tags/tag47.xml"/><Relationship Id="rId80" Type="http://schemas.openxmlformats.org/officeDocument/2006/relationships/tags" Target="../tags/tag48.xml"/><Relationship Id="rId81" Type="http://schemas.openxmlformats.org/officeDocument/2006/relationships/tags" Target="../tags/tag49.xml"/><Relationship Id="rId82" Type="http://schemas.openxmlformats.org/officeDocument/2006/relationships/tags" Target="../tags/tag50.xml"/><Relationship Id="rId83" Type="http://schemas.openxmlformats.org/officeDocument/2006/relationships/tags" Target="../tags/tag51.xml"/><Relationship Id="rId84" Type="http://schemas.openxmlformats.org/officeDocument/2006/relationships/tags" Target="../tags/tag52.xml"/><Relationship Id="rId85" Type="http://schemas.openxmlformats.org/officeDocument/2006/relationships/tags" Target="../tags/tag53.xml"/><Relationship Id="rId86" Type="http://schemas.openxmlformats.org/officeDocument/2006/relationships/tags" Target="../tags/tag54.xml"/><Relationship Id="rId87" Type="http://schemas.openxmlformats.org/officeDocument/2006/relationships/tags" Target="../tags/tag55.xml"/><Relationship Id="rId88" Type="http://schemas.openxmlformats.org/officeDocument/2006/relationships/tags" Target="../tags/tag56.xml"/><Relationship Id="rId89" Type="http://schemas.openxmlformats.org/officeDocument/2006/relationships/tags" Target="../tags/tag57.xml"/><Relationship Id="rId90" Type="http://schemas.openxmlformats.org/officeDocument/2006/relationships/tags" Target="../tags/tag58.xml"/><Relationship Id="rId91" Type="http://schemas.openxmlformats.org/officeDocument/2006/relationships/tags" Target="../tags/tag59.xml"/><Relationship Id="rId92" Type="http://schemas.openxmlformats.org/officeDocument/2006/relationships/tags" Target="../tags/tag60.xml"/><Relationship Id="rId93" Type="http://schemas.openxmlformats.org/officeDocument/2006/relationships/tags" Target="../tags/tag61.xml"/><Relationship Id="rId94" Type="http://schemas.openxmlformats.org/officeDocument/2006/relationships/tags" Target="../tags/tag62.xml"/><Relationship Id="rId95" Type="http://schemas.openxmlformats.org/officeDocument/2006/relationships/tags" Target="../tags/tag63.xml"/><Relationship Id="rId96" Type="http://schemas.openxmlformats.org/officeDocument/2006/relationships/tags" Target="../tags/tag64.xml"/><Relationship Id="rId97" Type="http://schemas.openxmlformats.org/officeDocument/2006/relationships/tags" Target="../tags/tag65.xml"/><Relationship Id="rId98" Type="http://schemas.openxmlformats.org/officeDocument/2006/relationships/tags" Target="../tags/tag66.xml"/><Relationship Id="rId99" Type="http://schemas.openxmlformats.org/officeDocument/2006/relationships/tags" Target="../tags/tag67.xml"/><Relationship Id="rId100" Type="http://schemas.openxmlformats.org/officeDocument/2006/relationships/tags" Target="../tags/tag68.xml"/><Relationship Id="rId101" Type="http://schemas.openxmlformats.org/officeDocument/2006/relationships/tags" Target="../tags/tag69.xml"/><Relationship Id="rId102" Type="http://schemas.openxmlformats.org/officeDocument/2006/relationships/tags" Target="../tags/tag70.xml"/><Relationship Id="rId103" Type="http://schemas.openxmlformats.org/officeDocument/2006/relationships/tags" Target="../tags/tag71.xml"/><Relationship Id="rId104" Type="http://schemas.openxmlformats.org/officeDocument/2006/relationships/tags" Target="../tags/tag72.xml"/><Relationship Id="rId105" Type="http://schemas.openxmlformats.org/officeDocument/2006/relationships/tags" Target="../tags/tag73.xml"/><Relationship Id="rId106" Type="http://schemas.openxmlformats.org/officeDocument/2006/relationships/tags" Target="../tags/tag74.xml"/><Relationship Id="rId107" Type="http://schemas.openxmlformats.org/officeDocument/2006/relationships/tags" Target="../tags/tag75.xml"/><Relationship Id="rId108" Type="http://schemas.openxmlformats.org/officeDocument/2006/relationships/tags" Target="../tags/tag76.xml"/><Relationship Id="rId109" Type="http://schemas.openxmlformats.org/officeDocument/2006/relationships/tags" Target="../tags/tag77.xml"/><Relationship Id="rId110" Type="http://schemas.openxmlformats.org/officeDocument/2006/relationships/tags" Target="../tags/tag78.xml"/><Relationship Id="rId111" Type="http://schemas.openxmlformats.org/officeDocument/2006/relationships/tags" Target="../tags/tag79.xml"/><Relationship Id="rId112" Type="http://schemas.openxmlformats.org/officeDocument/2006/relationships/tags" Target="../tags/tag80.xml"/><Relationship Id="rId113" Type="http://schemas.openxmlformats.org/officeDocument/2006/relationships/tags" Target="../tags/tag81.xml"/><Relationship Id="rId114" Type="http://schemas.openxmlformats.org/officeDocument/2006/relationships/tags" Target="../tags/tag82.xml"/><Relationship Id="rId115" Type="http://schemas.openxmlformats.org/officeDocument/2006/relationships/tags" Target="../tags/tag83.xml"/><Relationship Id="rId116" Type="http://schemas.openxmlformats.org/officeDocument/2006/relationships/tags" Target="../tags/tag84.xml"/><Relationship Id="rId117" Type="http://schemas.openxmlformats.org/officeDocument/2006/relationships/tags" Target="../tags/tag85.xml"/><Relationship Id="rId118" Type="http://schemas.openxmlformats.org/officeDocument/2006/relationships/tags" Target="../tags/tag86.xml"/><Relationship Id="rId119" Type="http://schemas.openxmlformats.org/officeDocument/2006/relationships/tags" Target="../tags/tag87.xml"/><Relationship Id="rId120" Type="http://schemas.openxmlformats.org/officeDocument/2006/relationships/tags" Target="../tags/tag88.xml"/><Relationship Id="rId121" Type="http://schemas.openxmlformats.org/officeDocument/2006/relationships/tags" Target="../tags/tag89.xml"/><Relationship Id="rId122" Type="http://schemas.openxmlformats.org/officeDocument/2006/relationships/tags" Target="../tags/tag90.xml"/><Relationship Id="rId123" Type="http://schemas.openxmlformats.org/officeDocument/2006/relationships/tags" Target="../tags/tag91.xml"/><Relationship Id="rId124" Type="http://schemas.openxmlformats.org/officeDocument/2006/relationships/tags" Target="../tags/tag92.xml"/><Relationship Id="rId125" Type="http://schemas.openxmlformats.org/officeDocument/2006/relationships/tags" Target="../tags/tag93.xml"/><Relationship Id="rId126" Type="http://schemas.openxmlformats.org/officeDocument/2006/relationships/tags" Target="../tags/tag94.xml"/><Relationship Id="rId127" Type="http://schemas.openxmlformats.org/officeDocument/2006/relationships/tags" Target="../tags/tag95.xml"/><Relationship Id="rId128" Type="http://schemas.openxmlformats.org/officeDocument/2006/relationships/tags" Target="../tags/tag96.xml"/><Relationship Id="rId129" Type="http://schemas.openxmlformats.org/officeDocument/2006/relationships/tags" Target="../tags/tag97.xml"/><Relationship Id="rId130" Type="http://schemas.openxmlformats.org/officeDocument/2006/relationships/tags" Target="../tags/tag98.xml"/><Relationship Id="rId131" Type="http://schemas.openxmlformats.org/officeDocument/2006/relationships/tags" Target="../tags/tag99.xml"/><Relationship Id="rId132" Type="http://schemas.openxmlformats.org/officeDocument/2006/relationships/tags" Target="../tags/tag100.xml"/><Relationship Id="rId133" Type="http://schemas.openxmlformats.org/officeDocument/2006/relationships/tags" Target="../tags/tag101.xml"/><Relationship Id="rId134" Type="http://schemas.openxmlformats.org/officeDocument/2006/relationships/tags" Target="../tags/tag102.xml"/><Relationship Id="rId135" Type="http://schemas.openxmlformats.org/officeDocument/2006/relationships/tags" Target="../tags/tag103.xml"/><Relationship Id="rId136" Type="http://schemas.openxmlformats.org/officeDocument/2006/relationships/tags" Target="../tags/tag104.xml"/><Relationship Id="rId137" Type="http://schemas.openxmlformats.org/officeDocument/2006/relationships/tags" Target="../tags/tag105.xml"/><Relationship Id="rId138" Type="http://schemas.openxmlformats.org/officeDocument/2006/relationships/tags" Target="../tags/tag106.xml"/><Relationship Id="rId139" Type="http://schemas.openxmlformats.org/officeDocument/2006/relationships/tags" Target="../tags/tag107.xml"/><Relationship Id="rId140" Type="http://schemas.openxmlformats.org/officeDocument/2006/relationships/tags" Target="../tags/tag108.xml"/><Relationship Id="rId141" Type="http://schemas.openxmlformats.org/officeDocument/2006/relationships/tags" Target="../tags/tag109.xml"/><Relationship Id="rId142" Type="http://schemas.openxmlformats.org/officeDocument/2006/relationships/tags" Target="../tags/tag110.xml"/><Relationship Id="rId143" Type="http://schemas.openxmlformats.org/officeDocument/2006/relationships/tags" Target="../tags/tag111.xml"/><Relationship Id="rId144" Type="http://schemas.openxmlformats.org/officeDocument/2006/relationships/tags" Target="../tags/tag112.xml"/><Relationship Id="rId145" Type="http://schemas.openxmlformats.org/officeDocument/2006/relationships/tags" Target="../tags/tag113.xml"/><Relationship Id="rId146" Type="http://schemas.openxmlformats.org/officeDocument/2006/relationships/tags" Target="../tags/tag114.xml"/><Relationship Id="rId147" Type="http://schemas.openxmlformats.org/officeDocument/2006/relationships/tags" Target="../tags/tag115.xml"/><Relationship Id="rId148" Type="http://schemas.openxmlformats.org/officeDocument/2006/relationships/tags" Target="../tags/tag116.xml"/><Relationship Id="rId149" Type="http://schemas.openxmlformats.org/officeDocument/2006/relationships/tags" Target="../tags/tag117.xml"/><Relationship Id="rId150" Type="http://schemas.openxmlformats.org/officeDocument/2006/relationships/tags" Target="../tags/tag118.xml"/><Relationship Id="rId151" Type="http://schemas.openxmlformats.org/officeDocument/2006/relationships/tags" Target="../tags/tag119.xml"/><Relationship Id="rId152" Type="http://schemas.openxmlformats.org/officeDocument/2006/relationships/tags" Target="../tags/tag120.xml"/><Relationship Id="rId153" Type="http://schemas.openxmlformats.org/officeDocument/2006/relationships/tags" Target="../tags/tag121.xml"/><Relationship Id="rId154" Type="http://schemas.openxmlformats.org/officeDocument/2006/relationships/tags" Target="../tags/tag122.xml"/><Relationship Id="rId155" Type="http://schemas.openxmlformats.org/officeDocument/2006/relationships/tags" Target="../tags/tag123.xml"/><Relationship Id="rId156" Type="http://schemas.openxmlformats.org/officeDocument/2006/relationships/tags" Target="../tags/tag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dirty="0">
              <a:latin typeface="+mn-lt"/>
            </a:endParaRPr>
          </a:p>
        </p:txBody>
      </p:sp>
      <p:sp>
        <p:nvSpPr>
          <p:cNvPr id="12" name="Copyright Placeholder" descr="{&quot;templafy&quot;:{&quot;id&quot;:&quot;1df0b5c3-c399-4d80-afa5-baa0f5e07b52&quot;}}">
            <a:extLst>
              <a:ext uri="{FF2B5EF4-FFF2-40B4-BE49-F238E27FC236}">
                <a16:creationId xmlns:a16="http://schemas.microsoft.com/office/drawing/2014/main" id="{539D88F9-B48F-F143-B90F-EDFB85A350E8}"/>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dirty="0">
                <a:latin typeface="Arial" panose="020B0604020202020204" pitchFamily="34" charset="0"/>
              </a:rPr>
              <a:t>INTERNAL – SAP and Partners Only</a:t>
            </a:r>
          </a:p>
        </p:txBody>
      </p:sp>
      <p:sp>
        <p:nvSpPr>
          <p:cNvPr id="3" name="Text Placeholder"/>
          <p:cNvSpPr>
            <a:spLocks noGrp="1"/>
          </p:cNvSpPr>
          <p:nvPr userDrawn="1">
            <p:ph type="body" idx="1"/>
          </p:nvPr>
        </p:nvSpPr>
        <p:spPr bwMode="black">
          <a:xfrm>
            <a:off x="504001" y="1548560"/>
            <a:ext cx="11186476" cy="4716000"/>
          </a:xfrm>
          <a:prstGeom prst="rect">
            <a:avLst/>
          </a:prstGeom>
        </p:spPr>
        <p:txBody>
          <a:bodyPr vert="horz" lIns="0" tIns="0" rIns="0" bIns="0" rtlCol="0">
            <a:norm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4"/>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3"/>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5"/>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8"/>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6"/>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9"/>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7"/>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8"/>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dirty="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71105" y="896931"/>
            <a:ext cx="2124070" cy="59540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Responsible: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0" i="0" u="none" strike="noStrike" kern="0" cap="none" spc="0" normalizeH="0" baseline="0" noProof="0" dirty="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95" r:id="rId1"/>
    <p:sldLayoutId id="2147483773" r:id="rId2"/>
    <p:sldLayoutId id="2147483780" r:id="rId3"/>
    <p:sldLayoutId id="2147483787" r:id="rId4"/>
    <p:sldLayoutId id="2147483777" r:id="rId5"/>
    <p:sldLayoutId id="2147483788" r:id="rId6"/>
    <p:sldLayoutId id="2147483789" r:id="rId7"/>
    <p:sldLayoutId id="2147483790" r:id="rId8"/>
    <p:sldLayoutId id="2147483791" r:id="rId9"/>
    <p:sldLayoutId id="2147483792" r:id="rId10"/>
    <p:sldLayoutId id="2147483793" r:id="rId11"/>
    <p:sldLayoutId id="2147483794" r:id="rId12"/>
    <p:sldLayoutId id="2147483741" r:id="rId13"/>
    <p:sldLayoutId id="2147483765" r:id="rId14"/>
    <p:sldLayoutId id="2147483767" r:id="rId15"/>
    <p:sldLayoutId id="2147483786" r:id="rId16"/>
    <p:sldLayoutId id="2147483743" r:id="rId17"/>
    <p:sldLayoutId id="2147483774" r:id="rId18"/>
    <p:sldLayoutId id="2147483745" r:id="rId19"/>
    <p:sldLayoutId id="2147483760" r:id="rId20"/>
    <p:sldLayoutId id="2147483768" r:id="rId21"/>
    <p:sldLayoutId id="2147483769" r:id="rId22"/>
    <p:sldLayoutId id="2147483770" r:id="rId23"/>
    <p:sldLayoutId id="2147483744" r:id="rId24"/>
    <p:sldLayoutId id="2147483757" r:id="rId25"/>
    <p:sldLayoutId id="2147483771" r:id="rId26"/>
    <p:sldLayoutId id="2147483763" r:id="rId27"/>
    <p:sldLayoutId id="2147483751" r:id="rId28"/>
    <p:sldLayoutId id="2147483756" r:id="rId29"/>
    <p:sldLayoutId id="2147483740" r:id="rId30"/>
    <p:sldLayoutId id="2147483796" r:id="rId31"/>
    <p:sldLayoutId id="2147483797" r:id="rId32"/>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1800"/>
        </a:spcBef>
        <a:buClrTx/>
        <a:buSzPct val="80000"/>
        <a:buFont typeface="Roboto" panose="02000000000000000000" pitchFamily="2" charset="0"/>
        <a:buChar char="​"/>
        <a:defRPr sz="2000" b="0" i="0" kern="1200">
          <a:solidFill>
            <a:schemeClr val="tx1"/>
          </a:solidFill>
          <a:latin typeface="72 Brand" panose="020B0504030603020204" pitchFamily="34" charset="0"/>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72 Brand" panose="020B0504030603020204" pitchFamily="34" charset="0"/>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72 Brand" panose="020B0504030603020204" pitchFamily="34" charset="0"/>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26.xml"/><Relationship Id="rId2" Type="http://schemas.openxmlformats.org/officeDocument/2006/relationships/slideLayout" Target="../slideLayouts/slideLayout31.xml"/><Relationship Id="rId3" Type="http://schemas.openxmlformats.org/officeDocument/2006/relationships/notesSlide" Target="../notesSlides/notesSlide1.xml"/><Relationship Id="rId4" Type="http://schemas.openxmlformats.org/officeDocument/2006/relationships/oleObject" Target="../embeddings/oleObject2.bin"/><Relationship Id="rId5" Type="http://schemas.openxmlformats.org/officeDocument/2006/relationships/image" Target="../media/image6.emf"/></Relationships>
</file>

<file path=ppt/slides/_rels/slide2.xml.rels><?xml version='1.0' encoding='UTF-8' standalone='yes'?>
<Relationships xmlns="http://schemas.openxmlformats.org/package/2006/relationships"><Relationship Id="rId1" Type="http://schemas.openxmlformats.org/officeDocument/2006/relationships/tags" Target="../tags/tag127.xml"/><Relationship Id="rId2" Type="http://schemas.openxmlformats.org/officeDocument/2006/relationships/slideLayout" Target="../slideLayouts/slideLayout32.xml"/><Relationship Id="rId3" Type="http://schemas.openxmlformats.org/officeDocument/2006/relationships/notesSlide" Target="../notesSlides/notesSlide2.xml"/><Relationship Id="rId4" Type="http://schemas.openxmlformats.org/officeDocument/2006/relationships/oleObject" Target="../embeddings/oleObject3.bin"/><Relationship Id="rId5"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AF58C-0E99-A529-27DD-C2D55355B3F3}"/>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D473EF74-E7D2-6AB7-B9FE-D176D1B74FE3}"/>
              </a:ext>
            </a:extLst>
          </p:cNvPr>
          <p:cNvGraphicFramePr>
            <a:graphicFrameLocks/>
          </p:cNvGraphicFramePr>
          <p:nvPr>
            <p:custDataLst>
              <p:tags r:id="rId1"/>
            </p:custDataLst>
          </p:nvPr>
        </p:nvGraphicFramePr>
        <p:xfrm>
          <a:off x="3175"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3" progId="TCLayout.ActiveDocument.1">
                  <p:embed/>
                </p:oleObj>
              </mc:Choice>
              <mc:Fallback>
                <p:oleObj name="think-cell Slide" r:id="rId4" imgW="352" imgH="353" progId="TCLayout.ActiveDocument.1">
                  <p:embed/>
                  <p:pic>
                    <p:nvPicPr>
                      <p:cNvPr id="9" name="think-cell data - do not delete" hidden="1">
                        <a:extLst>
                          <a:ext uri="{FF2B5EF4-FFF2-40B4-BE49-F238E27FC236}">
                            <a16:creationId xmlns:a16="http://schemas.microsoft.com/office/drawing/2014/main" id="{D473EF74-E7D2-6AB7-B9FE-D176D1B74FE3}"/>
                          </a:ext>
                        </a:extLst>
                      </p:cNvPr>
                      <p:cNvPicPr/>
                      <p:nvPr/>
                    </p:nvPicPr>
                    <p:blipFill>
                      <a:blip r:embed="rId5"/>
                      <a:stretch>
                        <a:fillRect/>
                      </a:stretch>
                    </p:blipFill>
                    <p:spPr>
                      <a:xfrm>
                        <a:off x="3175" y="1588"/>
                        <a:ext cx="1588" cy="1588"/>
                      </a:xfrm>
                      <a:prstGeom prst="rect">
                        <a:avLst/>
                      </a:prstGeom>
                    </p:spPr>
                  </p:pic>
                </p:oleObj>
              </mc:Fallback>
            </mc:AlternateContent>
          </a:graphicData>
        </a:graphic>
      </p:graphicFrame>
      <p:sp>
        <p:nvSpPr>
          <p:cNvPr id="4" name="Title 18">
            <a:extLst>
              <a:ext uri="{FF2B5EF4-FFF2-40B4-BE49-F238E27FC236}">
                <a16:creationId xmlns:a16="http://schemas.microsoft.com/office/drawing/2014/main" id="{E8995D63-0DAB-8B3B-C850-142DEDD62738}"/>
              </a:ext>
            </a:extLst>
          </p:cNvPr>
          <p:cNvSpPr>
            <a:spLocks noGrp="1"/>
          </p:cNvSpPr>
          <p:nvPr>
            <p:ph type="title"/>
          </p:nvPr>
        </p:nvSpPr>
        <p:spPr/>
        <p:txBody>
          <a:bodyPr vert="horz">
            <a:normAutofit/>
          </a:bodyPr>
          <a:lstStyle/>
          <a:p>
            <a:pPr>
              <a:defRPr/>
            </a:pPr>
            <a:r>
              <a:rPr lang="en-US" sz="1799">
                <a:solidFill>
                  <a:schemeClr val="tx2">
                    <a:lumMod val="75000"/>
                  </a:schemeClr>
                </a:solidFill>
                <a:latin typeface="72 Brand Medium"/>
                <a:cs typeface="72" panose="020B0503030000000003" pitchFamily="34" charset="0"/>
              </a:rPr>
              <a:t>APAC</a:t>
            </a:r>
            <a:r>
              <a:rPr lang="en-US" sz="1799">
                <a:solidFill>
                  <a:schemeClr val="accent1"/>
                </a:solidFill>
                <a:latin typeface="72 Brand Medium"/>
                <a:cs typeface="72" panose="020B0503030000000003" pitchFamily="34" charset="0"/>
              </a:rPr>
              <a:t> </a:t>
            </a:r>
            <a:r>
              <a:rPr lang="en-US" sz="1799">
                <a:solidFill>
                  <a:srgbClr val="1990FE"/>
                </a:solidFill>
                <a:latin typeface="72 Brand Medium"/>
                <a:cs typeface="72" panose="020B0503030000000003" pitchFamily="34" charset="0"/>
              </a:rPr>
              <a:t>– Role Transformation KPIs </a:t>
            </a:r>
            <a:r>
              <a:rPr lang="en-US" sz="1799">
                <a:solidFill>
                  <a:srgbClr val="1990FE"/>
                </a:solidFill>
                <a:latin typeface="72 Brand Medium"/>
                <a:ea typeface="+mn-ea"/>
                <a:cs typeface="+mn-cs"/>
              </a:rPr>
              <a:t>| </a:t>
            </a:r>
            <a:r>
              <a:rPr lang="en-US" sz="1799">
                <a:solidFill>
                  <a:srgbClr val="000000"/>
                </a:solidFill>
                <a:latin typeface="72 Brand Medium"/>
              </a:rPr>
              <a:t>Enterprise Architect (EA) 1/5</a:t>
            </a:r>
            <a:endParaRPr lang="en-US" sz="1799"/>
          </a:p>
        </p:txBody>
      </p:sp>
      <p:graphicFrame>
        <p:nvGraphicFramePr>
          <p:cNvPr id="2" name="Table 47">
            <a:extLst>
              <a:ext uri="{FF2B5EF4-FFF2-40B4-BE49-F238E27FC236}">
                <a16:creationId xmlns:a16="http://schemas.microsoft.com/office/drawing/2014/main" id="{1216A14B-33EF-6190-EFDD-23B91428573B}"/>
              </a:ext>
            </a:extLst>
          </p:cNvPr>
          <p:cNvGraphicFramePr>
            <a:graphicFrameLocks noGrp="1"/>
          </p:cNvGraphicFramePr>
          <p:nvPr/>
        </p:nvGraphicFramePr>
        <p:xfrm>
          <a:off x="506912" y="108127"/>
          <a:ext cx="1552488" cy="228576"/>
        </p:xfrm>
        <a:graphic>
          <a:graphicData uri="http://schemas.openxmlformats.org/drawingml/2006/table">
            <a:tbl>
              <a:tblPr firstRow="1" bandRow="1">
                <a:tableStyleId>{2D5ABB26-0587-4C30-8999-92F81FD0307C}</a:tableStyleId>
              </a:tblPr>
              <a:tblGrid>
                <a:gridCol w="1552488">
                  <a:extLst>
                    <a:ext uri="{9D8B030D-6E8A-4147-A177-3AD203B41FA5}">
                      <a16:colId xmlns:a16="http://schemas.microsoft.com/office/drawing/2014/main" val="3549761308"/>
                    </a:ext>
                  </a:extLst>
                </a:gridCol>
              </a:tblGrid>
              <a:tr h="228540">
                <a:tc>
                  <a:txBody>
                    <a:bodyPr/>
                    <a:lstStyle/>
                    <a:p>
                      <a:pPr algn="ctr"/>
                      <a:r>
                        <a:rPr lang="en-US" sz="900">
                          <a:solidFill>
                            <a:schemeClr val="bg1">
                              <a:lumMod val="50000"/>
                            </a:schemeClr>
                          </a:solidFill>
                        </a:rPr>
                        <a:t>Last Updated: 07/08/2026</a:t>
                      </a:r>
                    </a:p>
                  </a:txBody>
                  <a:tcPr marL="91416" marR="91416" marT="45708" marB="45708"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28525642"/>
                  </a:ext>
                </a:extLst>
              </a:tr>
            </a:tbl>
          </a:graphicData>
        </a:graphic>
      </p:graphicFrame>
      <p:sp>
        <p:nvSpPr>
          <p:cNvPr id="7" name="TextBox 6">
            <a:extLst>
              <a:ext uri="{FF2B5EF4-FFF2-40B4-BE49-F238E27FC236}">
                <a16:creationId xmlns:a16="http://schemas.microsoft.com/office/drawing/2014/main" id="{A7615C04-A86F-EAEA-E4CE-83077D2732C9}"/>
              </a:ext>
            </a:extLst>
          </p:cNvPr>
          <p:cNvSpPr txBox="1"/>
          <p:nvPr/>
        </p:nvSpPr>
        <p:spPr>
          <a:xfrm>
            <a:off x="9496108" y="357462"/>
            <a:ext cx="1600199" cy="230832"/>
          </a:xfrm>
          <a:prstGeom prst="rect">
            <a:avLst/>
          </a:prstGeom>
          <a:noFill/>
        </p:spPr>
        <p:txBody>
          <a:bodyPr wrap="square">
            <a:spAutoFit/>
          </a:bodyPr>
          <a:lstStyle/>
          <a:p>
            <a:r>
              <a:rPr lang="en-US" sz="900">
                <a:solidFill>
                  <a:srgbClr val="000000"/>
                </a:solidFill>
                <a:latin typeface="+mn-lt"/>
                <a:hlinkClick r:id="" action="ppaction://noaction"/>
              </a:rPr>
              <a:t>KPI Glossary</a:t>
            </a:r>
            <a:r>
              <a:rPr lang="en-US" sz="900">
                <a:solidFill>
                  <a:srgbClr val="000000"/>
                </a:solidFill>
                <a:latin typeface="+mn-lt"/>
              </a:rPr>
              <a:t> </a:t>
            </a:r>
            <a:r>
              <a:rPr lang="en-US" sz="900">
                <a:solidFill>
                  <a:schemeClr val="tx1">
                    <a:lumMod val="50000"/>
                    <a:lumOff val="50000"/>
                  </a:schemeClr>
                </a:solidFill>
              </a:rPr>
              <a:t>|</a:t>
            </a:r>
            <a:r>
              <a:rPr lang="en-US" sz="900">
                <a:solidFill>
                  <a:srgbClr val="000000"/>
                </a:solidFill>
              </a:rPr>
              <a:t> </a:t>
            </a:r>
            <a:r>
              <a:rPr lang="en-US" sz="900">
                <a:solidFill>
                  <a:srgbClr val="000000"/>
                </a:solidFill>
                <a:hlinkClick r:id="" action="ppaction://noaction"/>
              </a:rPr>
              <a:t>KPI Changes</a:t>
            </a:r>
            <a:endParaRPr lang="en-US" sz="900"/>
          </a:p>
        </p:txBody>
      </p:sp>
      <p:graphicFrame>
        <p:nvGraphicFramePr>
          <p:cNvPr id="12" name="Table 11">
            <a:extLst>
              <a:ext uri="{FF2B5EF4-FFF2-40B4-BE49-F238E27FC236}">
                <a16:creationId xmlns:a16="http://schemas.microsoft.com/office/drawing/2014/main" id="{2727B156-8623-5FB3-9B25-26304620EC32}"/>
              </a:ext>
            </a:extLst>
          </p:cNvPr>
          <p:cNvGraphicFramePr>
            <a:graphicFrameLocks noGrp="1"/>
          </p:cNvGraphicFramePr>
          <p:nvPr/>
        </p:nvGraphicFramePr>
        <p:xfrm>
          <a:off x="490094" y="1201926"/>
          <a:ext cx="11204742" cy="246888"/>
        </p:xfrm>
        <a:graphic>
          <a:graphicData uri="http://schemas.openxmlformats.org/drawingml/2006/table">
            <a:tbl>
              <a:tblPr firstRow="1" bandRow="1">
                <a:tableStyleId>{5C22544A-7EE6-4342-B048-85BDC9FD1C3A}</a:tableStyleId>
              </a:tblPr>
              <a:tblGrid>
                <a:gridCol w="1109198">
                  <a:extLst>
                    <a:ext uri="{9D8B030D-6E8A-4147-A177-3AD203B41FA5}">
                      <a16:colId xmlns:a16="http://schemas.microsoft.com/office/drawing/2014/main" val="4214699003"/>
                    </a:ext>
                  </a:extLst>
                </a:gridCol>
                <a:gridCol w="10095544">
                  <a:extLst>
                    <a:ext uri="{9D8B030D-6E8A-4147-A177-3AD203B41FA5}">
                      <a16:colId xmlns:a16="http://schemas.microsoft.com/office/drawing/2014/main" val="2812475670"/>
                    </a:ext>
                  </a:extLst>
                </a:gridCol>
              </a:tblGrid>
              <a:tr h="246888">
                <a:tc>
                  <a:txBody>
                    <a:bodyPr/>
                    <a:lstStyle/>
                    <a:p>
                      <a:r>
                        <a:rPr lang="en-US" sz="1000" b="1" noProof="0">
                          <a:solidFill>
                            <a:schemeClr val="bg1"/>
                          </a:solidFill>
                          <a:latin typeface="+mn-lt"/>
                        </a:rPr>
                        <a:t>Bonus Plan KPIs</a:t>
                      </a:r>
                    </a:p>
                  </a:txBody>
                  <a:tcPr marL="36000" marR="36000" marT="0" marB="0" anchor="ctr">
                    <a:lnL w="12700"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r>
                        <a:rPr lang="en-US" sz="1000" b="0" i="0" u="none" strike="noStrike" noProof="0">
                          <a:solidFill>
                            <a:srgbClr val="000000"/>
                          </a:solidFill>
                          <a:effectLst/>
                          <a:latin typeface="+mn-lt"/>
                        </a:rPr>
                        <a:t>Consumed ACV (cACV) (Territory) (Public) | Net Bookings (P&amp;L) (Enterprise)</a:t>
                      </a:r>
                      <a:endParaRPr lang="en-US" sz="1000" b="0" i="0" u="none" strike="noStrike" noProof="0">
                        <a:solidFill>
                          <a:schemeClr val="tx1"/>
                        </a:solidFill>
                        <a:effectLst/>
                        <a:latin typeface="+mn-lt"/>
                      </a:endParaRPr>
                    </a:p>
                  </a:txBody>
                  <a:tcPr marL="36000" marR="3600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96474222"/>
                  </a:ext>
                </a:extLst>
              </a:tr>
            </a:tbl>
          </a:graphicData>
        </a:graphic>
      </p:graphicFrame>
      <p:sp>
        <p:nvSpPr>
          <p:cNvPr id="16" name="TextBox 15">
            <a:extLst>
              <a:ext uri="{FF2B5EF4-FFF2-40B4-BE49-F238E27FC236}">
                <a16:creationId xmlns:a16="http://schemas.microsoft.com/office/drawing/2014/main" id="{3BBBCF56-1354-14DA-9774-472BD93B1E91}"/>
              </a:ext>
            </a:extLst>
          </p:cNvPr>
          <p:cNvSpPr txBox="1"/>
          <p:nvPr/>
        </p:nvSpPr>
        <p:spPr>
          <a:xfrm>
            <a:off x="5400990" y="6366847"/>
            <a:ext cx="1422400" cy="123111"/>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800" kern="0">
                <a:latin typeface="72 Brand" panose="020B0504030603020204" pitchFamily="34" charset="0"/>
                <a:ea typeface="Arial Unicode MS" pitchFamily="34" charset="-128"/>
                <a:cs typeface="Arial Unicode MS" pitchFamily="34" charset="-128"/>
              </a:rPr>
              <a:t>( ) = Change from prior report</a:t>
            </a:r>
          </a:p>
        </p:txBody>
      </p:sp>
      <p:graphicFrame>
        <p:nvGraphicFramePr>
          <p:cNvPr id="17" name="Table 16">
            <a:extLst>
              <a:ext uri="{FF2B5EF4-FFF2-40B4-BE49-F238E27FC236}">
                <a16:creationId xmlns:a16="http://schemas.microsoft.com/office/drawing/2014/main" id="{EC78B300-3B95-70EA-975C-FED3CD6E2B80}"/>
              </a:ext>
            </a:extLst>
          </p:cNvPr>
          <p:cNvGraphicFramePr>
            <a:graphicFrameLocks noGrp="1"/>
          </p:cNvGraphicFramePr>
          <p:nvPr/>
        </p:nvGraphicFramePr>
        <p:xfrm>
          <a:off x="506413" y="1533999"/>
          <a:ext cx="11183939" cy="4719085"/>
        </p:xfrm>
        <a:graphic>
          <a:graphicData uri="http://schemas.openxmlformats.org/drawingml/2006/table">
            <a:tbl>
              <a:tblPr/>
              <a:tblGrid>
                <a:gridCol w="1443088">
                  <a:extLst>
                    <a:ext uri="{9D8B030D-6E8A-4147-A177-3AD203B41FA5}">
                      <a16:colId xmlns:a16="http://schemas.microsoft.com/office/drawing/2014/main" val="1779439334"/>
                    </a:ext>
                  </a:extLst>
                </a:gridCol>
                <a:gridCol w="1519251">
                  <a:extLst>
                    <a:ext uri="{9D8B030D-6E8A-4147-A177-3AD203B41FA5}">
                      <a16:colId xmlns:a16="http://schemas.microsoft.com/office/drawing/2014/main" val="3604434074"/>
                    </a:ext>
                  </a:extLst>
                </a:gridCol>
                <a:gridCol w="786384">
                  <a:extLst>
                    <a:ext uri="{9D8B030D-6E8A-4147-A177-3AD203B41FA5}">
                      <a16:colId xmlns:a16="http://schemas.microsoft.com/office/drawing/2014/main" val="3157286127"/>
                    </a:ext>
                  </a:extLst>
                </a:gridCol>
                <a:gridCol w="713232">
                  <a:extLst>
                    <a:ext uri="{9D8B030D-6E8A-4147-A177-3AD203B41FA5}">
                      <a16:colId xmlns:a16="http://schemas.microsoft.com/office/drawing/2014/main" val="4136254824"/>
                    </a:ext>
                  </a:extLst>
                </a:gridCol>
                <a:gridCol w="658368">
                  <a:extLst>
                    <a:ext uri="{9D8B030D-6E8A-4147-A177-3AD203B41FA5}">
                      <a16:colId xmlns:a16="http://schemas.microsoft.com/office/drawing/2014/main" val="1622740490"/>
                    </a:ext>
                  </a:extLst>
                </a:gridCol>
                <a:gridCol w="676656">
                  <a:extLst>
                    <a:ext uri="{9D8B030D-6E8A-4147-A177-3AD203B41FA5}">
                      <a16:colId xmlns:a16="http://schemas.microsoft.com/office/drawing/2014/main" val="3894806876"/>
                    </a:ext>
                  </a:extLst>
                </a:gridCol>
                <a:gridCol w="676656">
                  <a:extLst>
                    <a:ext uri="{9D8B030D-6E8A-4147-A177-3AD203B41FA5}">
                      <a16:colId xmlns:a16="http://schemas.microsoft.com/office/drawing/2014/main" val="396938184"/>
                    </a:ext>
                  </a:extLst>
                </a:gridCol>
                <a:gridCol w="713232">
                  <a:extLst>
                    <a:ext uri="{9D8B030D-6E8A-4147-A177-3AD203B41FA5}">
                      <a16:colId xmlns:a16="http://schemas.microsoft.com/office/drawing/2014/main" val="2277755130"/>
                    </a:ext>
                  </a:extLst>
                </a:gridCol>
                <a:gridCol w="694944">
                  <a:extLst>
                    <a:ext uri="{9D8B030D-6E8A-4147-A177-3AD203B41FA5}">
                      <a16:colId xmlns:a16="http://schemas.microsoft.com/office/drawing/2014/main" val="1855677941"/>
                    </a:ext>
                  </a:extLst>
                </a:gridCol>
                <a:gridCol w="667512">
                  <a:extLst>
                    <a:ext uri="{9D8B030D-6E8A-4147-A177-3AD203B41FA5}">
                      <a16:colId xmlns:a16="http://schemas.microsoft.com/office/drawing/2014/main" val="1720590634"/>
                    </a:ext>
                  </a:extLst>
                </a:gridCol>
                <a:gridCol w="932688">
                  <a:extLst>
                    <a:ext uri="{9D8B030D-6E8A-4147-A177-3AD203B41FA5}">
                      <a16:colId xmlns:a16="http://schemas.microsoft.com/office/drawing/2014/main" val="2584888771"/>
                    </a:ext>
                  </a:extLst>
                </a:gridCol>
                <a:gridCol w="1143000">
                  <a:extLst>
                    <a:ext uri="{9D8B030D-6E8A-4147-A177-3AD203B41FA5}">
                      <a16:colId xmlns:a16="http://schemas.microsoft.com/office/drawing/2014/main" val="3127176315"/>
                    </a:ext>
                  </a:extLst>
                </a:gridCol>
                <a:gridCol w="558928">
                  <a:extLst>
                    <a:ext uri="{9D8B030D-6E8A-4147-A177-3AD203B41FA5}">
                      <a16:colId xmlns:a16="http://schemas.microsoft.com/office/drawing/2014/main" val="1997985505"/>
                    </a:ext>
                  </a:extLst>
                </a:gridCol>
              </a:tblGrid>
              <a:tr h="0">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w="6350" cap="flat" cmpd="sng" algn="ctr">
                      <a:solidFill>
                        <a:srgbClr val="FFFFFF"/>
                      </a:solidFill>
                      <a:prstDash val="solid"/>
                      <a:round/>
                      <a:headEnd type="none" w="med" len="med"/>
                      <a:tailEnd type="none" w="med" len="med"/>
                    </a:lnR>
                    <a:lnT>
                      <a:noFill/>
                    </a:lnT>
                    <a:lnB>
                      <a:noFill/>
                    </a:lnB>
                    <a:noFill/>
                  </a:tcPr>
                </a:tc>
                <a:tc rowSpan="2">
                  <a:txBody>
                    <a:bodyPr/>
                    <a:lstStyle/>
                    <a:p>
                      <a:pPr algn="l" fontAlgn="ctr">
                        <a:buNone/>
                      </a:pPr>
                      <a:r>
                        <a:rPr lang="en-SG" sz="900" b="1" i="0" u="none" strike="noStrike">
                          <a:solidFill>
                            <a:srgbClr val="1990FE"/>
                          </a:solidFill>
                          <a:effectLst/>
                          <a:latin typeface="72 Brand (body)" panose="020B0604020202020204"/>
                        </a:rPr>
                        <a:t>KPIs</a:t>
                      </a:r>
                    </a:p>
                  </a:txBody>
                  <a:tcPr marL="74394"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ANZ</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G.China</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India</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Japan</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Korea</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South East Asia</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gridSpan="2">
                  <a:txBody>
                    <a:bodyPr/>
                    <a:lstStyle/>
                    <a:p>
                      <a:pPr algn="ctr" fontAlgn="ctr">
                        <a:buNone/>
                      </a:pPr>
                      <a:r>
                        <a:rPr lang="en-SG" sz="900" b="1" i="0" u="none" strike="noStrike">
                          <a:solidFill>
                            <a:srgbClr val="1990FE"/>
                          </a:solidFill>
                          <a:effectLst/>
                          <a:latin typeface="72 Brand (body)" panose="020B0604020202020204"/>
                        </a:rPr>
                        <a:t>APAC</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8E8E8"/>
                    </a:solidFill>
                  </a:tcPr>
                </a:tc>
                <a:tc hMerge="1">
                  <a:txBody>
                    <a:bodyPr/>
                    <a:lstStyle/>
                    <a:p>
                      <a:endParaRPr lang="en-SG"/>
                    </a:p>
                  </a:txBody>
                  <a:tcPr/>
                </a:tc>
                <a:tc rowSpan="2">
                  <a:txBody>
                    <a:bodyPr/>
                    <a:lstStyle/>
                    <a:p>
                      <a:pPr algn="ctr" fontAlgn="ctr">
                        <a:buNone/>
                      </a:pPr>
                      <a:r>
                        <a:rPr lang="en-SG" sz="900" b="1" i="0" u="none" strike="noStrike">
                          <a:solidFill>
                            <a:srgbClr val="1990FE"/>
                          </a:solidFill>
                          <a:effectLst/>
                          <a:latin typeface="72 Brand (body)" panose="020B0604020202020204"/>
                        </a:rPr>
                        <a:t>Owner</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Action to Remedy/MU Impact</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rowSpan="2">
                  <a:txBody>
                    <a:bodyPr/>
                    <a:lstStyle/>
                    <a:p>
                      <a:pPr algn="ctr" fontAlgn="ctr">
                        <a:buNone/>
                      </a:pPr>
                      <a:r>
                        <a:rPr lang="en-SG" sz="900" b="1" i="0" u="none" strike="noStrike">
                          <a:solidFill>
                            <a:srgbClr val="1990FE"/>
                          </a:solidFill>
                          <a:effectLst/>
                          <a:latin typeface="72 Brand (body)" panose="020B0604020202020204"/>
                        </a:rPr>
                        <a:t>Timeline</a:t>
                      </a:r>
                    </a:p>
                  </a:txBody>
                  <a:tcPr marL="4133" marR="4133" marT="4133" marB="0" anchor="ctr">
                    <a:lnL w="6350" cap="flat" cmpd="sng" algn="ctr">
                      <a:solidFill>
                        <a:srgbClr val="FFFFFF"/>
                      </a:solidFill>
                      <a:prstDash val="solid"/>
                      <a:round/>
                      <a:headEnd type="none" w="med" len="med"/>
                      <a:tailEnd type="none" w="med" len="med"/>
                    </a:lnL>
                    <a:lnR>
                      <a:noFill/>
                    </a:lnR>
                    <a:lnT>
                      <a:noFill/>
                    </a:lnT>
                    <a:lnB w="6350" cap="flat" cmpd="sng" algn="ctr">
                      <a:solidFill>
                        <a:srgbClr val="EBEBEB"/>
                      </a:solidFill>
                      <a:prstDash val="solid"/>
                      <a:round/>
                      <a:headEnd type="none" w="med" len="med"/>
                      <a:tailEnd type="none" w="med" len="med"/>
                    </a:lnB>
                    <a:solidFill>
                      <a:srgbClr val="E8E8E8"/>
                    </a:solidFill>
                  </a:tcPr>
                </a:tc>
                <a:extLst>
                  <a:ext uri="{0D108BD9-81ED-4DB2-BD59-A6C34878D82A}">
                    <a16:rowId xmlns:a16="http://schemas.microsoft.com/office/drawing/2014/main" val="1531494663"/>
                  </a:ext>
                </a:extLst>
              </a:tr>
              <a:tr h="0">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w="6350" cap="flat" cmpd="sng" algn="ctr">
                      <a:solidFill>
                        <a:srgbClr val="FFFFFF"/>
                      </a:solidFill>
                      <a:prstDash val="solid"/>
                      <a:round/>
                      <a:headEnd type="none" w="med" len="med"/>
                      <a:tailEnd type="none" w="med" len="med"/>
                    </a:lnR>
                    <a:lnT>
                      <a:noFill/>
                    </a:lnT>
                    <a:lnB>
                      <a:noFill/>
                    </a:lnB>
                    <a:noFill/>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tc>
                  <a:txBody>
                    <a:bodyPr/>
                    <a:lstStyle/>
                    <a:p>
                      <a:pPr algn="ctr" fontAlgn="ctr">
                        <a:buNone/>
                      </a:pPr>
                      <a:r>
                        <a:rPr lang="en-SG" sz="900" b="1" i="0" u="none" strike="noStrike">
                          <a:solidFill>
                            <a:srgbClr val="1990FE"/>
                          </a:solidFill>
                          <a:effectLst/>
                          <a:latin typeface="72 Brand (body)" panose="020B0604020202020204"/>
                        </a:rPr>
                        <a:t>Actual</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a:txBody>
                    <a:bodyPr/>
                    <a:lstStyle/>
                    <a:p>
                      <a:pPr algn="ctr" fontAlgn="ctr">
                        <a:buNone/>
                      </a:pPr>
                      <a:r>
                        <a:rPr lang="en-SG" sz="900" b="1" i="0" u="none" strike="noStrike">
                          <a:solidFill>
                            <a:srgbClr val="1990FE"/>
                          </a:solidFill>
                          <a:effectLst/>
                          <a:latin typeface="72 Brand (body)" panose="020B0604020202020204"/>
                        </a:rPr>
                        <a:t>Target</a:t>
                      </a:r>
                    </a:p>
                  </a:txBody>
                  <a:tcPr marL="4133" marR="4133" marT="413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solidFill>
                      <a:srgbClr val="E8E8E8"/>
                    </a:solidFill>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4210170531"/>
                  </a:ext>
                </a:extLst>
              </a:tr>
              <a:tr h="0">
                <a:tc rowSpan="8">
                  <a:txBody>
                    <a:bodyPr/>
                    <a:lstStyle/>
                    <a:p>
                      <a:pPr algn="l" fontAlgn="ctr">
                        <a:buNone/>
                      </a:pPr>
                      <a:r>
                        <a:rPr lang="en-SG" sz="900" b="1" i="0" u="none" strike="noStrike">
                          <a:solidFill>
                            <a:srgbClr val="FFFFFF"/>
                          </a:solidFill>
                          <a:effectLst/>
                          <a:latin typeface="72 Brand (body)" panose="020B0604020202020204"/>
                        </a:rPr>
                        <a:t>Business Impact</a:t>
                      </a:r>
                    </a:p>
                  </a:txBody>
                  <a:tcPr marL="74394" marR="4133" marT="4133" marB="0" anchor="ctr">
                    <a:lnL>
                      <a:noFill/>
                    </a:lnL>
                    <a:lnR w="6350" cap="flat" cmpd="sng" algn="ctr">
                      <a:solidFill>
                        <a:srgbClr val="EBEBEB"/>
                      </a:solidFill>
                      <a:prstDash val="solid"/>
                      <a:round/>
                      <a:headEnd type="none" w="med" len="med"/>
                      <a:tailEnd type="none" w="med" len="med"/>
                    </a:lnR>
                    <a:lnT>
                      <a:noFill/>
                    </a:lnT>
                    <a:lnB>
                      <a:noFill/>
                    </a:lnB>
                    <a:solidFill>
                      <a:srgbClr val="1990FE"/>
                    </a:solidFill>
                  </a:tcPr>
                </a:tc>
                <a:tc rowSpan="2">
                  <a:txBody>
                    <a:bodyPr/>
                    <a:lstStyle/>
                    <a:p>
                      <a:pPr algn="l" fontAlgn="ctr">
                        <a:buNone/>
                      </a:pPr>
                      <a:r>
                        <a:rPr lang="en-SG" sz="900" b="0" i="0" u="none" strike="noStrike">
                          <a:solidFill>
                            <a:srgbClr val="000000"/>
                          </a:solidFill>
                          <a:effectLst/>
                          <a:latin typeface="72 Brand (body)" panose="020B0604020202020204"/>
                        </a:rPr>
                        <a:t>Joule Activated</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FFC000"/>
                          </a:solidFill>
                          <a:effectLst/>
                          <a:latin typeface="72 Brand (body)" panose="020B0604020202020204"/>
                        </a:rPr>
                        <a:t>49%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57%</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69%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65%</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46%</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64%</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60%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65%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8">
                  <a:txBody>
                    <a:bodyPr/>
                    <a:lstStyle/>
                    <a:p>
                      <a:pPr algn="ctr" fontAlgn="ctr">
                        <a:buNone/>
                      </a:pPr>
                      <a:endParaRPr lang="en-SG" sz="900" b="0" i="0" u="none" strike="noStrike">
                        <a:solidFill>
                          <a:srgbClr val="000000"/>
                        </a:solidFill>
                        <a:effectLst/>
                        <a:latin typeface="72 Brand (body)" panose="020B0604020202020204"/>
                      </a:endParaRP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3146926642"/>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(+6%)</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(+15%)</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(+16%)</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(+9%)</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3090884346"/>
                  </a:ext>
                </a:extLst>
              </a:tr>
              <a:tr h="0">
                <a:tc vMerge="1">
                  <a:txBody>
                    <a:bodyPr/>
                    <a:lstStyle/>
                    <a:p>
                      <a:endParaRPr lang="en-DE"/>
                    </a:p>
                  </a:txBody>
                  <a:tcPr/>
                </a:tc>
                <a:tc rowSpan="2">
                  <a:txBody>
                    <a:bodyPr/>
                    <a:lstStyle/>
                    <a:p>
                      <a:pPr algn="l" fontAlgn="ctr">
                        <a:buNone/>
                      </a:pPr>
                      <a:r>
                        <a:rPr lang="en-SG" sz="900" b="0" i="0" u="none" strike="noStrike">
                          <a:solidFill>
                            <a:srgbClr val="000000"/>
                          </a:solidFill>
                          <a:effectLst/>
                          <a:latin typeface="72 Brand (body)" panose="020B0604020202020204"/>
                        </a:rPr>
                        <a:t>AI Adoption Plan</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FFC000"/>
                          </a:solidFill>
                          <a:effectLst/>
                          <a:latin typeface="72 Brand (body)" panose="020B0604020202020204"/>
                        </a:rPr>
                        <a:t>68%</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buNone/>
                      </a:pPr>
                      <a:r>
                        <a:rPr lang="en-SG" sz="900" b="0" i="0" u="none" strike="noStrike">
                          <a:solidFill>
                            <a:srgbClr val="FFC000"/>
                          </a:solidFill>
                          <a:effectLst/>
                          <a:latin typeface="72 Brand (body)" panose="020B0604020202020204"/>
                        </a:rPr>
                        <a:t>68%</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buNone/>
                      </a:pPr>
                      <a:r>
                        <a:rPr lang="en-SG" sz="900" b="0" i="0" u="none" strike="noStrike">
                          <a:solidFill>
                            <a:srgbClr val="FFC000"/>
                          </a:solidFill>
                          <a:effectLst/>
                          <a:latin typeface="72 Brand (body)" panose="020B0604020202020204"/>
                        </a:rPr>
                        <a:t>73%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buNone/>
                      </a:pPr>
                      <a:r>
                        <a:rPr lang="en-SG" sz="900" b="0" i="0" u="none" strike="noStrike">
                          <a:solidFill>
                            <a:srgbClr val="FF0000"/>
                          </a:solidFill>
                          <a:effectLst/>
                          <a:latin typeface="72 Brand (body)" panose="020B0604020202020204"/>
                        </a:rPr>
                        <a:t>50%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buNone/>
                      </a:pPr>
                      <a:r>
                        <a:rPr lang="en-SG" sz="900" b="0" i="0" u="none" strike="noStrike">
                          <a:solidFill>
                            <a:srgbClr val="FF0000"/>
                          </a:solidFill>
                          <a:effectLst/>
                          <a:latin typeface="72 Brand (body)" panose="020B0604020202020204"/>
                        </a:rPr>
                        <a:t>49%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buNone/>
                      </a:pPr>
                      <a:r>
                        <a:rPr lang="en-SG" sz="900" b="0" i="0" u="none" strike="noStrike">
                          <a:solidFill>
                            <a:srgbClr val="34A41C"/>
                          </a:solidFill>
                          <a:effectLst/>
                          <a:latin typeface="72 Brand (body)" panose="020B0604020202020204"/>
                        </a:rPr>
                        <a:t>95%</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b">
                        <a:buNone/>
                      </a:pPr>
                      <a:r>
                        <a:rPr lang="en-SG" sz="900" b="0" i="0" u="none" strike="noStrike">
                          <a:solidFill>
                            <a:srgbClr val="FFC000"/>
                          </a:solidFill>
                          <a:effectLst/>
                          <a:latin typeface="72 Brand (body)" panose="020B0604020202020204"/>
                        </a:rPr>
                        <a:t>69%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a:txBody>
                    <a:bodyPr/>
                    <a:lstStyle/>
                    <a:p>
                      <a:pPr algn="ctr" fontAlgn="ctr">
                        <a:buNone/>
                      </a:pPr>
                      <a:r>
                        <a:rPr lang="en-SG" sz="900" b="0" i="0" u="none" strike="noStrike">
                          <a:solidFill>
                            <a:srgbClr val="000000"/>
                          </a:solidFill>
                          <a:effectLst/>
                          <a:latin typeface="72 Brand (body)" panose="020B0604020202020204"/>
                        </a:rPr>
                        <a:t>75%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DE"/>
                    </a:p>
                  </a:txBody>
                  <a:tcPr/>
                </a:tc>
                <a:tc>
                  <a:txBody>
                    <a:bodyPr/>
                    <a:lstStyle/>
                    <a:p>
                      <a:pPr algn="l" fontAlgn="ctr">
                        <a:buNone/>
                      </a:pPr>
                      <a:endParaRPr lang="en-SG" sz="900" b="0" i="0" u="none" strike="noStrike">
                        <a:solidFill>
                          <a:srgbClr val="000000"/>
                        </a:solidFill>
                        <a:effectLst/>
                        <a:latin typeface="72 Brand (body)" panose="020B0604020202020204"/>
                      </a:endParaRP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ctr">
                        <a:buNone/>
                      </a:pPr>
                      <a:endParaRPr lang="en-SG" sz="900" b="0" i="0" u="none" strike="noStrike">
                        <a:solidFill>
                          <a:srgbClr val="000000"/>
                        </a:solidFill>
                        <a:effectLst/>
                        <a:latin typeface="72 Brand (body)" panose="020B0604020202020204"/>
                      </a:endParaRP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2383389308"/>
                  </a:ext>
                </a:extLst>
              </a:tr>
              <a:tr h="0">
                <a:tc vMerge="1">
                  <a:txBody>
                    <a:bodyPr/>
                    <a:lstStyle/>
                    <a:p>
                      <a:endParaRPr lang="en-DE"/>
                    </a:p>
                  </a:txBody>
                  <a:tcPr/>
                </a:tc>
                <a:tc vMerge="1">
                  <a:txBody>
                    <a:bodyPr/>
                    <a:lstStyle/>
                    <a:p>
                      <a:endParaRPr lang="en-SG"/>
                    </a:p>
                  </a:txBody>
                  <a:tcP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t">
                        <a:buNone/>
                      </a:pPr>
                      <a:r>
                        <a:rPr lang="en-SG" sz="900" b="0" i="0" u="none" strike="noStrike">
                          <a:solidFill>
                            <a:srgbClr val="000000"/>
                          </a:solidFill>
                          <a:effectLst/>
                          <a:latin typeface="72 Brand (body)" panose="020B0604020202020204"/>
                        </a:rPr>
                        <a:t>(+1%)</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body)" panose="020B0604020202020204"/>
                        </a:rPr>
                        <a:t>(⬤)</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body)" panose="020B0604020202020204"/>
                        </a:rPr>
                        <a:t>(⬤)</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body)" panose="020B0604020202020204"/>
                        </a:rPr>
                        <a:t>(+6%)</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body)" panose="020B0604020202020204"/>
                        </a:rPr>
                        <a:t>(+7%)</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body)" panose="020B0604020202020204"/>
                        </a:rPr>
                        <a:t>(+9%)</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body)" panose="020B0604020202020204"/>
                        </a:rPr>
                        <a:t>(+3%)</a:t>
                      </a:r>
                    </a:p>
                  </a:txBody>
                  <a:tcPr marL="4133" marR="4133" marT="4133"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EBEBEB"/>
                      </a:solidFill>
                      <a:prstDash val="solid"/>
                      <a:round/>
                      <a:headEnd type="none" w="med" len="med"/>
                      <a:tailEnd type="none" w="med" len="med"/>
                    </a:lnB>
                  </a:tcPr>
                </a:tc>
                <a:tc vMerge="1">
                  <a:txBody>
                    <a:bodyPr/>
                    <a:lstStyle/>
                    <a:p>
                      <a:endParaRPr lang="en-SG"/>
                    </a:p>
                  </a:txBody>
                  <a:tcP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DE"/>
                    </a:p>
                  </a:txBody>
                  <a:tcPr/>
                </a:tc>
                <a:tc>
                  <a:txBody>
                    <a:bodyPr/>
                    <a:lstStyle/>
                    <a:p>
                      <a:pPr algn="l" fontAlgn="ctr">
                        <a:buNone/>
                      </a:pPr>
                      <a:endParaRPr lang="en-SG" sz="900" b="0" i="0" u="none" strike="noStrike">
                        <a:solidFill>
                          <a:srgbClr val="000000"/>
                        </a:solidFill>
                        <a:effectLst/>
                        <a:latin typeface="72 Brand (body)" panose="020B0604020202020204"/>
                      </a:endParaRP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ctr">
                        <a:buNone/>
                      </a:pPr>
                      <a:endParaRPr lang="en-SG" sz="900" b="0" i="0" u="none" strike="noStrike">
                        <a:solidFill>
                          <a:srgbClr val="000000"/>
                        </a:solidFill>
                        <a:effectLst/>
                        <a:latin typeface="72 Brand (body)" panose="020B0604020202020204"/>
                      </a:endParaRP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3565606971"/>
                  </a:ext>
                </a:extLst>
              </a:tr>
              <a:tr h="0">
                <a:tc vMerge="1">
                  <a:txBody>
                    <a:bodyPr/>
                    <a:lstStyle/>
                    <a:p>
                      <a:endParaRPr lang="en-SG"/>
                    </a:p>
                  </a:txBody>
                  <a:tcPr/>
                </a:tc>
                <a:tc rowSpan="2">
                  <a:txBody>
                    <a:bodyPr/>
                    <a:lstStyle/>
                    <a:p>
                      <a:pPr algn="l" fontAlgn="ctr">
                        <a:buNone/>
                      </a:pPr>
                      <a:r>
                        <a:rPr lang="en-SG" sz="900" b="0" i="0" u="none" strike="noStrike" err="1">
                          <a:solidFill>
                            <a:srgbClr val="000000"/>
                          </a:solidFill>
                          <a:effectLst/>
                          <a:latin typeface="72 Brand (body)" panose="020B0604020202020204"/>
                        </a:rPr>
                        <a:t>RwSM</a:t>
                      </a:r>
                      <a:r>
                        <a:rPr lang="en-SG" sz="900" b="0" i="0" u="none" strike="noStrike">
                          <a:solidFill>
                            <a:srgbClr val="000000"/>
                          </a:solidFill>
                          <a:effectLst/>
                          <a:latin typeface="72 Brand (body)" panose="020B0604020202020204"/>
                        </a:rPr>
                        <a:t> Dashboard activated</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FFC000"/>
                          </a:solidFill>
                          <a:effectLst/>
                          <a:latin typeface="72 Brand (body)" panose="020B0604020202020204"/>
                        </a:rPr>
                        <a:t>49%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body)" panose="020B0604020202020204"/>
                        </a:rPr>
                        <a:t>20%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47%</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body)" panose="020B0604020202020204"/>
                        </a:rPr>
                        <a:t>33%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body)" panose="020B0604020202020204"/>
                        </a:rPr>
                        <a:t>5%</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59%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body)" panose="020B0604020202020204"/>
                        </a:rPr>
                        <a:t>38%</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55%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2556515010"/>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(+4%)</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84663777"/>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Risk Assessment available</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34A41C"/>
                          </a:solidFill>
                          <a:effectLst/>
                          <a:latin typeface="72 Brand (body)" panose="020B0604020202020204"/>
                        </a:rPr>
                        <a:t>68%</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86%</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53%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79%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95%</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81%</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50%</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288195553"/>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(+21%)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(+9%)</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(+6%)</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(+6%)</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2203132230"/>
                  </a:ext>
                </a:extLst>
              </a:tr>
              <a:tr h="0">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a:noFill/>
                    </a:lnL>
                    <a:lnR>
                      <a:noFill/>
                    </a:lnR>
                    <a:lnT>
                      <a:noFill/>
                    </a:lnT>
                    <a:lnB>
                      <a:noFill/>
                    </a:lnB>
                    <a:noFill/>
                  </a:tcPr>
                </a:tc>
                <a:tc>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extLst>
                  <a:ext uri="{0D108BD9-81ED-4DB2-BD59-A6C34878D82A}">
                    <a16:rowId xmlns:a16="http://schemas.microsoft.com/office/drawing/2014/main" val="1876799252"/>
                  </a:ext>
                </a:extLst>
              </a:tr>
              <a:tr h="0">
                <a:tc rowSpan="8">
                  <a:txBody>
                    <a:bodyPr/>
                    <a:lstStyle/>
                    <a:p>
                      <a:pPr algn="l" fontAlgn="ctr">
                        <a:buNone/>
                      </a:pPr>
                      <a:r>
                        <a:rPr lang="en-SG" sz="900" b="1" i="0" u="none" strike="noStrike">
                          <a:solidFill>
                            <a:srgbClr val="FFFFFF"/>
                          </a:solidFill>
                          <a:effectLst/>
                          <a:latin typeface="72 Brand (body)" panose="020B0604020202020204"/>
                        </a:rPr>
                        <a:t>Tool Adoption</a:t>
                      </a:r>
                    </a:p>
                  </a:txBody>
                  <a:tcPr marL="74394" marR="4133" marT="4133" marB="0" anchor="ctr">
                    <a:lnL>
                      <a:noFill/>
                    </a:lnL>
                    <a:lnR w="6350" cap="flat" cmpd="sng" algn="ctr">
                      <a:solidFill>
                        <a:srgbClr val="EBEBEB"/>
                      </a:solidFill>
                      <a:prstDash val="solid"/>
                      <a:round/>
                      <a:headEnd type="none" w="med" len="med"/>
                      <a:tailEnd type="none" w="med" len="med"/>
                    </a:lnR>
                    <a:lnT>
                      <a:noFill/>
                    </a:lnT>
                    <a:lnB>
                      <a:noFill/>
                    </a:lnB>
                    <a:solidFill>
                      <a:srgbClr val="1990FE"/>
                    </a:solidFill>
                  </a:tcPr>
                </a:tc>
                <a:tc rowSpan="2">
                  <a:txBody>
                    <a:bodyPr/>
                    <a:lstStyle/>
                    <a:p>
                      <a:pPr algn="l" fontAlgn="ctr">
                        <a:buNone/>
                      </a:pPr>
                      <a:r>
                        <a:rPr lang="en-SG" sz="900" b="0" i="0" u="none" strike="noStrike">
                          <a:solidFill>
                            <a:srgbClr val="000000"/>
                          </a:solidFill>
                          <a:effectLst/>
                          <a:latin typeface="72 Brand (body)" panose="020B0604020202020204"/>
                        </a:rPr>
                        <a:t>CALM tenant activated</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68%</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96%</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89%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77%</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90%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90%</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8">
                  <a:txBody>
                    <a:bodyPr/>
                    <a:lstStyle/>
                    <a:p>
                      <a:pPr algn="ctr" fontAlgn="ctr">
                        <a:buNone/>
                      </a:pPr>
                      <a:endParaRPr lang="en-SG" sz="900" b="0" i="0" u="none" strike="noStrike">
                        <a:solidFill>
                          <a:srgbClr val="000000"/>
                        </a:solidFill>
                        <a:effectLst/>
                        <a:latin typeface="72 Brand (body)" panose="020B0604020202020204"/>
                      </a:endParaRP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427776294"/>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3004183775"/>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Gainsight Usage</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FF0000"/>
                          </a:solidFill>
                          <a:effectLst/>
                          <a:latin typeface="72 Brand (body)" panose="020B0604020202020204"/>
                        </a:rPr>
                        <a:t>56%</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79%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95%</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83%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81%</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90%</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1840013825"/>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527002064"/>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Active Signavio Usage</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34A41C"/>
                          </a:solidFill>
                          <a:effectLst/>
                          <a:latin typeface="72 Brand (body)" panose="020B0604020202020204"/>
                        </a:rPr>
                        <a:t>84%</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body)" panose="020B0604020202020204"/>
                        </a:rPr>
                        <a:t>33%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70%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78%</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body)" panose="020B0604020202020204"/>
                        </a:rPr>
                        <a:t>33%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70%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72%</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65%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3644410623"/>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(+11%)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(+48%)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(+18%)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(+25%)</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(+31%)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3556245049"/>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Active LeanIX usage</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34A41C"/>
                          </a:solidFill>
                          <a:effectLst/>
                          <a:latin typeface="72 Brand (body)" panose="020B0604020202020204"/>
                        </a:rPr>
                        <a:t>89%</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100%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50%</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83%</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91%</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50%</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1892383520"/>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(+31%)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(+67%)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(+78%)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(+87%)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(+23%)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(+48%)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3352761255"/>
                  </a:ext>
                </a:extLst>
              </a:tr>
              <a:tr h="0">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a:noFill/>
                    </a:lnL>
                    <a:lnR>
                      <a:noFill/>
                    </a:lnR>
                    <a:lnT>
                      <a:noFill/>
                    </a:lnT>
                    <a:lnB>
                      <a:noFill/>
                    </a:lnB>
                    <a:noFill/>
                  </a:tcPr>
                </a:tc>
                <a:tc>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extLst>
                  <a:ext uri="{0D108BD9-81ED-4DB2-BD59-A6C34878D82A}">
                    <a16:rowId xmlns:a16="http://schemas.microsoft.com/office/drawing/2014/main" val="421365348"/>
                  </a:ext>
                </a:extLst>
              </a:tr>
              <a:tr h="0">
                <a:tc rowSpan="8">
                  <a:txBody>
                    <a:bodyPr/>
                    <a:lstStyle/>
                    <a:p>
                      <a:pPr algn="l" fontAlgn="ctr">
                        <a:buNone/>
                      </a:pPr>
                      <a:r>
                        <a:rPr lang="en-SG" sz="900" b="1" i="0" u="none" strike="noStrike">
                          <a:solidFill>
                            <a:srgbClr val="FFFFFF"/>
                          </a:solidFill>
                          <a:effectLst/>
                          <a:latin typeface="72 Brand (body)" panose="020B0604020202020204"/>
                        </a:rPr>
                        <a:t>Coverage</a:t>
                      </a:r>
                    </a:p>
                  </a:txBody>
                  <a:tcPr marL="74394" marR="4133" marT="4133" marB="0" anchor="ctr">
                    <a:lnL>
                      <a:noFill/>
                    </a:lnL>
                    <a:lnR w="6350" cap="flat" cmpd="sng" algn="ctr">
                      <a:solidFill>
                        <a:srgbClr val="EBEBEB"/>
                      </a:solidFill>
                      <a:prstDash val="solid"/>
                      <a:round/>
                      <a:headEnd type="none" w="med" len="med"/>
                      <a:tailEnd type="none" w="med" len="med"/>
                    </a:lnR>
                    <a:lnT>
                      <a:noFill/>
                    </a:lnT>
                    <a:lnB>
                      <a:noFill/>
                    </a:lnB>
                    <a:solidFill>
                      <a:srgbClr val="1990FE"/>
                    </a:solidFill>
                  </a:tcPr>
                </a:tc>
                <a:tc rowSpan="2">
                  <a:txBody>
                    <a:bodyPr/>
                    <a:lstStyle/>
                    <a:p>
                      <a:pPr algn="l" fontAlgn="ctr">
                        <a:buNone/>
                      </a:pPr>
                      <a:r>
                        <a:rPr lang="en-SG" sz="900" b="0" i="0" u="none" strike="noStrike">
                          <a:solidFill>
                            <a:srgbClr val="000000"/>
                          </a:solidFill>
                          <a:effectLst/>
                          <a:latin typeface="72 Brand (body)" panose="020B0604020202020204"/>
                        </a:rPr>
                        <a:t>EA Coverage (# of Customers)</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34A41C"/>
                          </a:solidFill>
                          <a:effectLst/>
                          <a:latin typeface="72 Brand" panose="020B0504030603020204" pitchFamily="34" charset="0"/>
                        </a:rPr>
                        <a:t>52%</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57%</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0000"/>
                          </a:solidFill>
                          <a:effectLst/>
                          <a:latin typeface="72 Brand" panose="020B0504030603020204" pitchFamily="34" charset="0"/>
                        </a:rPr>
                        <a:t>20%</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23%</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40%</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36%</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32%</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31.5%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758167290"/>
                  </a:ext>
                </a:extLst>
              </a:tr>
              <a:tr h="0">
                <a:tc vMerge="1">
                  <a:txBody>
                    <a:bodyPr/>
                    <a:lstStyle/>
                    <a:p>
                      <a:endParaRPr lang="en-SG"/>
                    </a:p>
                  </a:txBody>
                  <a:tcPr/>
                </a:tc>
                <a:tc vMerge="1">
                  <a:txBody>
                    <a:bodyPr/>
                    <a:lstStyle/>
                    <a:p>
                      <a:endParaRPr lang="en-SG"/>
                    </a:p>
                  </a:txBody>
                  <a:tcPr/>
                </a:tc>
                <a:tc>
                  <a:txBody>
                    <a:bodyPr/>
                    <a:lstStyle/>
                    <a:p>
                      <a:pPr algn="ctr" fontAlgn="t">
                        <a:buNone/>
                      </a:pPr>
                      <a:r>
                        <a:rPr lang="en-SG" sz="900" b="0" i="0" u="none" strike="noStrike">
                          <a:solidFill>
                            <a:srgbClr val="000000"/>
                          </a:solidFill>
                          <a:effectLst/>
                          <a:latin typeface="72 Brand" panose="020B0504030603020204" pitchFamily="34" charset="0"/>
                        </a:rPr>
                        <a:t>(⬤)</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(-2%)</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(-1%)</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(+3%)</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(+3%)</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(+1%)</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rowSpan="7">
                  <a:txBody>
                    <a:bodyPr/>
                    <a:lstStyle/>
                    <a:p>
                      <a:pPr algn="ctr" fontAlgn="ctr">
                        <a:buNone/>
                      </a:pPr>
                      <a:endParaRPr lang="en-SG" sz="900" b="0" i="0" u="none" strike="noStrike">
                        <a:solidFill>
                          <a:srgbClr val="000000"/>
                        </a:solidFill>
                        <a:effectLst/>
                        <a:latin typeface="72 Brand (body)" panose="020B0604020202020204"/>
                      </a:endParaRP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163726656"/>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EA Coverage (Exit ACV)</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34A41C"/>
                          </a:solidFill>
                          <a:effectLst/>
                          <a:latin typeface="72 Brand" panose="020B0504030603020204" pitchFamily="34" charset="0"/>
                        </a:rPr>
                        <a:t>88%</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94%</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66%</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61%</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81%</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76%</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73%</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74%</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1459935220"/>
                  </a:ext>
                </a:extLst>
              </a:tr>
              <a:tr h="0">
                <a:tc vMerge="1">
                  <a:txBody>
                    <a:bodyPr/>
                    <a:lstStyle/>
                    <a:p>
                      <a:endParaRPr lang="en-SG"/>
                    </a:p>
                  </a:txBody>
                  <a:tcPr/>
                </a:tc>
                <a:tc vMerge="1">
                  <a:txBody>
                    <a:bodyPr/>
                    <a:lstStyle/>
                    <a:p>
                      <a:endParaRPr lang="en-SG"/>
                    </a:p>
                  </a:txBody>
                  <a:tcPr/>
                </a:tc>
                <a:tc>
                  <a:txBody>
                    <a:bodyPr/>
                    <a:lstStyle/>
                    <a:p>
                      <a:pPr algn="ctr" fontAlgn="t">
                        <a:buNone/>
                      </a:pPr>
                      <a:r>
                        <a:rPr lang="en-SG" sz="900" b="0" i="0" u="none" strike="noStrike">
                          <a:solidFill>
                            <a:srgbClr val="000000"/>
                          </a:solidFill>
                          <a:effectLst/>
                          <a:latin typeface="72 Brand" panose="020B0504030603020204" pitchFamily="34" charset="0"/>
                        </a:rPr>
                        <a:t>(⬤)</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(-1%)</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(-1%)</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(+1%)</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(+1%)</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(+2%)</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SG" sz="900" b="0" i="0" u="none" strike="noStrike">
                          <a:solidFill>
                            <a:srgbClr val="000000"/>
                          </a:solidFill>
                          <a:effectLst/>
                          <a:latin typeface="72 Brand" panose="020B0504030603020204" pitchFamily="34" charset="0"/>
                        </a:rPr>
                        <a:t>(⬤)</a:t>
                      </a:r>
                    </a:p>
                  </a:txBody>
                  <a:tcPr marL="6350" marR="6350" marT="635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4083113304"/>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EA Customer Density</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FF0000"/>
                          </a:solidFill>
                          <a:effectLst/>
                          <a:latin typeface="72 Brand" panose="020B0504030603020204" pitchFamily="34" charset="0"/>
                        </a:rPr>
                        <a:t>2.13</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5.33</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3.04</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2.46</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panose="020B0504030603020204" pitchFamily="34" charset="0"/>
                        </a:rPr>
                        <a:t>5.27</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3.00</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panose="020B0504030603020204" pitchFamily="34" charset="0"/>
                        </a:rPr>
                        <a:t>3.15</a:t>
                      </a:r>
                    </a:p>
                  </a:txBody>
                  <a:tcPr marL="6350" marR="6350" marT="635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3.2</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1290960166"/>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(-0.08)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(+0.11)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(-0.04)</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(+0.16)</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(-0.62)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(-0.06)</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544862297"/>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EA ACV Density</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SG" sz="900" b="0" i="0" u="none" strike="noStrike">
                          <a:solidFill>
                            <a:srgbClr val="FFC000"/>
                          </a:solidFill>
                          <a:effectLst/>
                          <a:latin typeface="72 Brand (body)" panose="020B0604020202020204"/>
                        </a:rPr>
                        <a:t>13.3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17.8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14.7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18.8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34A41C"/>
                          </a:solidFill>
                          <a:effectLst/>
                          <a:latin typeface="72 Brand (body)" panose="020B0604020202020204"/>
                        </a:rPr>
                        <a:t>20.8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13.2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SG" sz="900" b="0" i="0" u="none" strike="noStrike">
                          <a:solidFill>
                            <a:srgbClr val="FFC000"/>
                          </a:solidFill>
                          <a:effectLst/>
                          <a:latin typeface="72 Brand (body)" panose="020B0604020202020204"/>
                        </a:rPr>
                        <a:t>16.2 M€</a:t>
                      </a:r>
                    </a:p>
                  </a:txBody>
                  <a:tcPr marL="4133" marR="4133" marT="4133"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16.5 M€</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1293971640"/>
                  </a:ext>
                </a:extLst>
              </a:tr>
              <a:tr h="0">
                <a:tc vMerge="1">
                  <a:txBody>
                    <a:bodyPr/>
                    <a:lstStyle/>
                    <a:p>
                      <a:endParaRPr lang="en-SG"/>
                    </a:p>
                  </a:txBody>
                  <a:tcPr/>
                </a:tc>
                <a:tc vMerge="1">
                  <a:txBody>
                    <a:bodyPr/>
                    <a:lstStyle/>
                    <a:p>
                      <a:endParaRPr lang="en-SG"/>
                    </a:p>
                  </a:txBody>
                  <a:tcPr/>
                </a:tc>
                <a:tc>
                  <a:txBody>
                    <a:bodyPr/>
                    <a:lstStyle/>
                    <a:p>
                      <a:pPr algn="ctr"/>
                      <a:r>
                        <a:rPr lang="en-DE" sz="900" b="0" i="0" u="none" strike="noStrike" baseline="0">
                          <a:solidFill>
                            <a:srgbClr val="000000"/>
                          </a:solidFill>
                          <a:latin typeface="72 Brand (body)" panose="020B0604020202020204"/>
                        </a:rPr>
                        <a:t>(-0.5)</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(+1.1)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(+1.7)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(-3.7)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(-0.9)</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a:r>
                        <a:rPr lang="en-DE" sz="900" b="0" i="0" u="none" strike="noStrike" baseline="0">
                          <a:solidFill>
                            <a:srgbClr val="000000"/>
                          </a:solidFill>
                          <a:latin typeface="72 Brand (body)" panose="020B0604020202020204"/>
                        </a:rPr>
                        <a:t>(-0.3)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159548573"/>
                  </a:ext>
                </a:extLst>
              </a:tr>
              <a:tr h="0">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a:noFill/>
                    </a:lnL>
                    <a:lnR>
                      <a:noFill/>
                    </a:lnR>
                    <a:lnT>
                      <a:noFill/>
                    </a:lnT>
                    <a:lnB>
                      <a:noFill/>
                    </a:lnB>
                    <a:noFill/>
                  </a:tcPr>
                </a:tc>
                <a:tc>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endParaRPr lang="en-SG" sz="900" b="0" i="0" u="none" strike="noStrike">
                        <a:solidFill>
                          <a:srgbClr val="000000"/>
                        </a:solidFill>
                        <a:effectLst/>
                        <a:latin typeface="72 Brand (body)" panose="020B0604020202020204"/>
                      </a:endParaRP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tc>
                  <a:txBody>
                    <a:bodyPr/>
                    <a:lstStyle/>
                    <a:p>
                      <a:pPr algn="l" fontAlgn="b">
                        <a:buNone/>
                      </a:pPr>
                      <a:r>
                        <a:rPr lang="en-SG" sz="900" b="0" i="0" u="none" strike="noStrike">
                          <a:solidFill>
                            <a:srgbClr val="000000"/>
                          </a:solidFill>
                          <a:effectLst/>
                          <a:latin typeface="72 Brand (body)" panose="020B0604020202020204"/>
                        </a:rPr>
                        <a:t> </a:t>
                      </a:r>
                    </a:p>
                  </a:txBody>
                  <a:tcPr marL="4133" marR="4133" marT="4133" marB="0" anchor="b">
                    <a:lnL>
                      <a:noFill/>
                    </a:lnL>
                    <a:lnR>
                      <a:noFill/>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solidFill>
                      <a:srgbClr val="F5F5F5"/>
                    </a:solidFill>
                  </a:tcPr>
                </a:tc>
                <a:extLst>
                  <a:ext uri="{0D108BD9-81ED-4DB2-BD59-A6C34878D82A}">
                    <a16:rowId xmlns:a16="http://schemas.microsoft.com/office/drawing/2014/main" val="3747962910"/>
                  </a:ext>
                </a:extLst>
              </a:tr>
              <a:tr h="0">
                <a:tc rowSpan="4">
                  <a:txBody>
                    <a:bodyPr/>
                    <a:lstStyle/>
                    <a:p>
                      <a:pPr algn="l" fontAlgn="ctr">
                        <a:buNone/>
                      </a:pPr>
                      <a:r>
                        <a:rPr lang="en-SG" sz="900" b="1" i="0" u="none" strike="noStrike">
                          <a:solidFill>
                            <a:srgbClr val="FFFFFF"/>
                          </a:solidFill>
                          <a:effectLst/>
                          <a:latin typeface="72 Brand (body)" panose="020B0604020202020204"/>
                        </a:rPr>
                        <a:t>Learning</a:t>
                      </a:r>
                    </a:p>
                  </a:txBody>
                  <a:tcPr marL="74394" marR="4133" marT="4133" marB="0" anchor="ctr">
                    <a:lnL>
                      <a:noFill/>
                    </a:lnL>
                    <a:lnR w="6350" cap="flat" cmpd="sng" algn="ctr">
                      <a:solidFill>
                        <a:srgbClr val="EBEBEB"/>
                      </a:solidFill>
                      <a:prstDash val="solid"/>
                      <a:round/>
                      <a:headEnd type="none" w="med" len="med"/>
                      <a:tailEnd type="none" w="med" len="med"/>
                    </a:lnR>
                    <a:lnT>
                      <a:noFill/>
                    </a:lnT>
                    <a:lnB>
                      <a:noFill/>
                    </a:lnB>
                    <a:solidFill>
                      <a:srgbClr val="1990FE"/>
                    </a:solidFill>
                  </a:tcPr>
                </a:tc>
                <a:tc rowSpan="2">
                  <a:txBody>
                    <a:bodyPr/>
                    <a:lstStyle/>
                    <a:p>
                      <a:pPr algn="l" fontAlgn="ctr">
                        <a:buNone/>
                      </a:pPr>
                      <a:r>
                        <a:rPr lang="en-SG" sz="900" b="0" i="0" u="none" strike="noStrike">
                          <a:solidFill>
                            <a:srgbClr val="000000"/>
                          </a:solidFill>
                          <a:effectLst/>
                          <a:latin typeface="72 Brand (body)" panose="020B0604020202020204"/>
                        </a:rPr>
                        <a:t>Lean IX Enablement</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DE" sz="900" b="0" i="0" u="none" strike="noStrike">
                          <a:solidFill>
                            <a:srgbClr val="FFC000"/>
                          </a:solidFill>
                          <a:effectLst/>
                          <a:latin typeface="72 Brand" panose="020B0504030603020204" pitchFamily="34" charset="0"/>
                        </a:rPr>
                        <a:t>78%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0000"/>
                          </a:solidFill>
                          <a:effectLst/>
                          <a:latin typeface="72 Brand" panose="020B0504030603020204" pitchFamily="34" charset="0"/>
                        </a:rPr>
                        <a:t>56%</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68%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0000"/>
                          </a:solidFill>
                          <a:effectLst/>
                          <a:latin typeface="72 Brand" panose="020B0504030603020204" pitchFamily="34" charset="0"/>
                        </a:rPr>
                        <a:t>58%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75%</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71%</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68%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85%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4">
                  <a:txBody>
                    <a:bodyPr/>
                    <a:lstStyle/>
                    <a:p>
                      <a:pPr algn="ctr" fontAlgn="ctr">
                        <a:buNone/>
                      </a:pPr>
                      <a:endParaRPr lang="en-SG" sz="900" b="0" i="0" u="none" strike="noStrike">
                        <a:solidFill>
                          <a:srgbClr val="000000"/>
                        </a:solidFill>
                        <a:effectLst/>
                        <a:latin typeface="72 Brand (body)" panose="020B0604020202020204"/>
                      </a:endParaRP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noFill/>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3893035918"/>
                  </a:ext>
                </a:extLst>
              </a:tr>
              <a:tr h="0">
                <a:tc vMerge="1">
                  <a:txBody>
                    <a:bodyPr/>
                    <a:lstStyle/>
                    <a:p>
                      <a:endParaRPr lang="en-SG"/>
                    </a:p>
                  </a:txBody>
                  <a:tcPr/>
                </a:tc>
                <a:tc vMerge="1">
                  <a:txBody>
                    <a:bodyPr/>
                    <a:lstStyle/>
                    <a:p>
                      <a:endParaRPr lang="en-SG"/>
                    </a:p>
                  </a:txBody>
                  <a:tcPr/>
                </a:tc>
                <a:tc>
                  <a:txBody>
                    <a:bodyPr/>
                    <a:lstStyle/>
                    <a:p>
                      <a:pPr algn="ctr" fontAlgn="t">
                        <a:buNone/>
                      </a:pPr>
                      <a:r>
                        <a:rPr lang="en-DE" sz="900" b="0" i="0" u="none" strike="noStrike">
                          <a:solidFill>
                            <a:srgbClr val="000000"/>
                          </a:solidFill>
                          <a:effectLst/>
                          <a:latin typeface="72 Brand" panose="020B0504030603020204" pitchFamily="34" charset="0"/>
                        </a:rPr>
                        <a:t>(-17%)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(-35%)</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(-20%)</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(-15%)</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(-10%)</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(-19%)</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(-19%)</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3630420422"/>
                  </a:ext>
                </a:extLst>
              </a:tr>
              <a:tr h="0">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EA Learning Journey</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a:txBody>
                    <a:bodyPr/>
                    <a:lstStyle/>
                    <a:p>
                      <a:pPr algn="ctr" fontAlgn="b">
                        <a:buNone/>
                      </a:pPr>
                      <a:r>
                        <a:rPr lang="en-DE" sz="900" b="0" i="0" u="none" strike="noStrike">
                          <a:solidFill>
                            <a:srgbClr val="FFC000"/>
                          </a:solidFill>
                          <a:effectLst/>
                          <a:latin typeface="72 Brand" panose="020B0504030603020204" pitchFamily="34" charset="0"/>
                        </a:rPr>
                        <a:t>78%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0000"/>
                          </a:solidFill>
                          <a:effectLst/>
                          <a:latin typeface="72 Brand" panose="020B0504030603020204" pitchFamily="34" charset="0"/>
                        </a:rPr>
                        <a:t>56%</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68%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0000"/>
                          </a:solidFill>
                          <a:effectLst/>
                          <a:latin typeface="72 Brand" panose="020B0504030603020204" pitchFamily="34" charset="0"/>
                        </a:rPr>
                        <a:t>58%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75%</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71%</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a:txBody>
                    <a:bodyPr/>
                    <a:lstStyle/>
                    <a:p>
                      <a:pPr algn="ctr" fontAlgn="b">
                        <a:buNone/>
                      </a:pPr>
                      <a:r>
                        <a:rPr lang="en-DE" sz="900" b="0" i="0" u="none" strike="noStrike">
                          <a:solidFill>
                            <a:srgbClr val="FFC000"/>
                          </a:solidFill>
                          <a:effectLst/>
                          <a:latin typeface="72 Brand" panose="020B0504030603020204" pitchFamily="34" charset="0"/>
                        </a:rPr>
                        <a:t>68%</a:t>
                      </a:r>
                    </a:p>
                  </a:txBody>
                  <a:tcPr marL="7620" marR="7620" marT="7620" marB="0" anchor="b">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a:noFill/>
                    </a:lnB>
                  </a:tcPr>
                </a:tc>
                <a:tc rowSpan="2">
                  <a:txBody>
                    <a:bodyPr/>
                    <a:lstStyle/>
                    <a:p>
                      <a:pPr algn="ctr" fontAlgn="ctr">
                        <a:buNone/>
                      </a:pPr>
                      <a:r>
                        <a:rPr lang="en-SG" sz="900" b="0" i="0" u="none" strike="noStrike">
                          <a:solidFill>
                            <a:srgbClr val="000000"/>
                          </a:solidFill>
                          <a:effectLst/>
                          <a:latin typeface="72 Brand (body)" panose="020B0604020202020204"/>
                        </a:rPr>
                        <a:t>85%</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vMerge="1">
                  <a:txBody>
                    <a:bodyPr/>
                    <a:lstStyle/>
                    <a:p>
                      <a:endParaRPr lang="en-SG"/>
                    </a:p>
                  </a:txBody>
                  <a:tcPr/>
                </a:tc>
                <a:tc rowSpan="2">
                  <a:txBody>
                    <a:bodyPr/>
                    <a:lstStyle/>
                    <a:p>
                      <a:pPr algn="l" fontAlgn="ctr">
                        <a:buNone/>
                      </a:pPr>
                      <a:r>
                        <a:rPr lang="en-SG" sz="900" b="0" i="0" u="none" strike="noStrike">
                          <a:solidFill>
                            <a:srgbClr val="000000"/>
                          </a:solidFill>
                          <a:effectLst/>
                          <a:latin typeface="72 Brand (body)" panose="020B0604020202020204"/>
                        </a:rPr>
                        <a:t> </a:t>
                      </a:r>
                    </a:p>
                  </a:txBody>
                  <a:tcPr marL="74394"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tc rowSpan="2">
                  <a:txBody>
                    <a:bodyPr/>
                    <a:lstStyle/>
                    <a:p>
                      <a:pPr algn="ctr" fontAlgn="ctr">
                        <a:buNone/>
                      </a:pPr>
                      <a:r>
                        <a:rPr lang="en-SG" sz="900" b="0" i="0" u="none" strike="noStrike">
                          <a:solidFill>
                            <a:srgbClr val="000000"/>
                          </a:solidFill>
                          <a:effectLst/>
                          <a:latin typeface="72 Brand (body)" panose="020B0604020202020204"/>
                        </a:rPr>
                        <a:t> </a:t>
                      </a:r>
                    </a:p>
                  </a:txBody>
                  <a:tcPr marL="4133" marR="4133" marT="4133" marB="0" anchor="ctr">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w="6350" cap="flat" cmpd="sng" algn="ctr">
                      <a:solidFill>
                        <a:srgbClr val="EBEBEB"/>
                      </a:solidFill>
                      <a:prstDash val="solid"/>
                      <a:round/>
                      <a:headEnd type="none" w="med" len="med"/>
                      <a:tailEnd type="none" w="med" len="med"/>
                    </a:lnT>
                    <a:lnB w="6350" cap="flat" cmpd="sng" algn="ctr">
                      <a:solidFill>
                        <a:srgbClr val="EBEBEB"/>
                      </a:solidFill>
                      <a:prstDash val="solid"/>
                      <a:round/>
                      <a:headEnd type="none" w="med" len="med"/>
                      <a:tailEnd type="none" w="med" len="med"/>
                    </a:lnB>
                    <a:noFill/>
                  </a:tcPr>
                </a:tc>
                <a:extLst>
                  <a:ext uri="{0D108BD9-81ED-4DB2-BD59-A6C34878D82A}">
                    <a16:rowId xmlns:a16="http://schemas.microsoft.com/office/drawing/2014/main" val="3988399361"/>
                  </a:ext>
                </a:extLst>
              </a:tr>
              <a:tr h="0">
                <a:tc vMerge="1">
                  <a:txBody>
                    <a:bodyPr/>
                    <a:lstStyle/>
                    <a:p>
                      <a:endParaRPr lang="en-SG"/>
                    </a:p>
                  </a:txBody>
                  <a:tcPr/>
                </a:tc>
                <a:tc vMerge="1">
                  <a:txBody>
                    <a:bodyPr/>
                    <a:lstStyle/>
                    <a:p>
                      <a:endParaRPr lang="en-SG"/>
                    </a:p>
                  </a:txBody>
                  <a:tcPr/>
                </a:tc>
                <a:tc>
                  <a:txBody>
                    <a:bodyPr/>
                    <a:lstStyle/>
                    <a:p>
                      <a:pPr algn="ctr" fontAlgn="t">
                        <a:buNone/>
                      </a:pPr>
                      <a:r>
                        <a:rPr lang="en-DE" sz="900" b="0" i="0" u="none" strike="noStrike">
                          <a:solidFill>
                            <a:srgbClr val="000000"/>
                          </a:solidFill>
                          <a:effectLst/>
                          <a:latin typeface="72 Brand" panose="020B0504030603020204" pitchFamily="34" charset="0"/>
                        </a:rPr>
                        <a:t>(-13%)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(-27%)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(-18%)</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(-7%)</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(-2%)</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a:solidFill>
                            <a:srgbClr val="000000"/>
                          </a:solidFill>
                          <a:effectLst/>
                          <a:latin typeface="72 Brand" panose="020B0504030603020204" pitchFamily="34" charset="0"/>
                        </a:rPr>
                        <a:t>(-11%)</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a:txBody>
                    <a:bodyPr/>
                    <a:lstStyle/>
                    <a:p>
                      <a:pPr algn="ctr" fontAlgn="t">
                        <a:buNone/>
                      </a:pPr>
                      <a:r>
                        <a:rPr lang="en-DE" sz="900" b="0" i="0" u="none" strike="noStrike" dirty="0">
                          <a:solidFill>
                            <a:srgbClr val="000000"/>
                          </a:solidFill>
                          <a:effectLst/>
                          <a:latin typeface="72 Brand" panose="020B0504030603020204" pitchFamily="34" charset="0"/>
                        </a:rPr>
                        <a:t>(-13%)</a:t>
                      </a:r>
                    </a:p>
                  </a:txBody>
                  <a:tcPr marL="7620" marR="7620" marT="7620" marB="0">
                    <a:lnL w="6350" cap="flat" cmpd="sng" algn="ctr">
                      <a:solidFill>
                        <a:srgbClr val="EBEBEB"/>
                      </a:solidFill>
                      <a:prstDash val="solid"/>
                      <a:round/>
                      <a:headEnd type="none" w="med" len="med"/>
                      <a:tailEnd type="none" w="med" len="med"/>
                    </a:lnL>
                    <a:lnR w="6350" cap="flat" cmpd="sng" algn="ctr">
                      <a:solidFill>
                        <a:srgbClr val="EBEBEB"/>
                      </a:solidFill>
                      <a:prstDash val="solid"/>
                      <a:round/>
                      <a:headEnd type="none" w="med" len="med"/>
                      <a:tailEnd type="none" w="med" len="med"/>
                    </a:lnR>
                    <a:lnT>
                      <a:noFill/>
                    </a:lnT>
                    <a:lnB w="6350" cap="flat" cmpd="sng" algn="ctr">
                      <a:solidFill>
                        <a:srgbClr val="EBEBEB"/>
                      </a:solidFill>
                      <a:prstDash val="solid"/>
                      <a:round/>
                      <a:headEnd type="none" w="med" len="med"/>
                      <a:tailEnd type="none" w="med" len="med"/>
                    </a:lnB>
                  </a:tcPr>
                </a:tc>
                <a:tc vMerge="1">
                  <a:txBody>
                    <a:bodyPr/>
                    <a:lstStyle/>
                    <a:p>
                      <a:endParaRPr lang="en-SG"/>
                    </a:p>
                  </a:txBody>
                  <a:tcPr/>
                </a:tc>
                <a:tc vMerge="1">
                  <a:txBody>
                    <a:bodyPr/>
                    <a:lstStyle/>
                    <a:p>
                      <a:endParaRPr lang="en-SG"/>
                    </a:p>
                  </a:txBody>
                  <a:tcPr/>
                </a:tc>
                <a:tc vMerge="1">
                  <a:txBody>
                    <a:bodyPr/>
                    <a:lstStyle/>
                    <a:p>
                      <a:endParaRPr lang="en-SG"/>
                    </a:p>
                  </a:txBody>
                  <a:tcPr/>
                </a:tc>
                <a:tc vMerge="1">
                  <a:txBody>
                    <a:bodyPr/>
                    <a:lstStyle/>
                    <a:p>
                      <a:endParaRPr lang="en-SG"/>
                    </a:p>
                  </a:txBody>
                  <a:tcPr/>
                </a:tc>
                <a:extLst>
                  <a:ext uri="{0D108BD9-81ED-4DB2-BD59-A6C34878D82A}">
                    <a16:rowId xmlns:a16="http://schemas.microsoft.com/office/drawing/2014/main" val="331255841"/>
                  </a:ext>
                </a:extLst>
              </a:tr>
            </a:tbl>
          </a:graphicData>
        </a:graphic>
      </p:graphicFrame>
      <p:grpSp>
        <p:nvGrpSpPr>
          <p:cNvPr id="18" name="Group 17">
            <a:extLst>
              <a:ext uri="{FF2B5EF4-FFF2-40B4-BE49-F238E27FC236}">
                <a16:creationId xmlns:a16="http://schemas.microsoft.com/office/drawing/2014/main" id="{49B428F5-AC96-2A57-38E9-031BC3FA95BA}"/>
              </a:ext>
            </a:extLst>
          </p:cNvPr>
          <p:cNvGrpSpPr/>
          <p:nvPr/>
        </p:nvGrpSpPr>
        <p:grpSpPr>
          <a:xfrm>
            <a:off x="3162450" y="6489956"/>
            <a:ext cx="6622669" cy="215388"/>
            <a:chOff x="3610711" y="6198212"/>
            <a:chExt cx="6624394" cy="215444"/>
          </a:xfrm>
        </p:grpSpPr>
        <p:sp>
          <p:nvSpPr>
            <p:cNvPr id="19" name="TextBox 18">
              <a:extLst>
                <a:ext uri="{FF2B5EF4-FFF2-40B4-BE49-F238E27FC236}">
                  <a16:creationId xmlns:a16="http://schemas.microsoft.com/office/drawing/2014/main" id="{115C0844-34D7-134C-2D29-346530FF0E00}"/>
                </a:ext>
              </a:extLst>
            </p:cNvPr>
            <p:cNvSpPr txBox="1"/>
            <p:nvPr/>
          </p:nvSpPr>
          <p:spPr>
            <a:xfrm>
              <a:off x="3610711" y="6198212"/>
              <a:ext cx="4650401" cy="215444"/>
            </a:xfrm>
            <a:prstGeom prst="rect">
              <a:avLst/>
            </a:prstGeom>
            <a:noFill/>
          </p:spPr>
          <p:txBody>
            <a:bodyPr wrap="square" lIns="0" tIns="45708" rIns="0" bIns="45708" anchor="t">
              <a:spAutoFit/>
            </a:bodyPr>
            <a:lstStyle/>
            <a:p>
              <a:pPr algn="ctr" defTabSz="914126">
                <a:defRPr/>
              </a:pPr>
              <a:r>
                <a:rPr lang="en-US" sz="800">
                  <a:solidFill>
                    <a:srgbClr val="34A41C"/>
                  </a:solidFill>
                  <a:latin typeface="72 Brand"/>
                </a:rPr>
                <a:t>⬤ At or above target </a:t>
              </a:r>
              <a:r>
                <a:rPr lang="en-US" sz="800">
                  <a:solidFill>
                    <a:srgbClr val="FFC000"/>
                  </a:solidFill>
                  <a:latin typeface="72 Brand"/>
                </a:rPr>
                <a:t>⬤ Within 70%-99% of target</a:t>
              </a:r>
              <a:r>
                <a:rPr lang="en-US" sz="800">
                  <a:solidFill>
                    <a:srgbClr val="FF9300"/>
                  </a:solidFill>
                  <a:latin typeface="72 Brand"/>
                </a:rPr>
                <a:t> </a:t>
              </a:r>
              <a:r>
                <a:rPr lang="en-US" sz="800">
                  <a:solidFill>
                    <a:srgbClr val="FF0000"/>
                  </a:solidFill>
                  <a:latin typeface="72 Brand"/>
                </a:rPr>
                <a:t>⬤ Below 70% of target </a:t>
              </a:r>
              <a:r>
                <a:rPr lang="en-US" sz="800">
                  <a:solidFill>
                    <a:srgbClr val="000000"/>
                  </a:solidFill>
                  <a:latin typeface="72 Brand"/>
                </a:rPr>
                <a:t>⬤ Measure not available</a:t>
              </a:r>
              <a:endParaRPr lang="en-US" sz="800">
                <a:solidFill>
                  <a:srgbClr val="000000"/>
                </a:solidFill>
                <a:latin typeface="72 Brand"/>
                <a:ea typeface="72 Brand"/>
              </a:endParaRPr>
            </a:p>
          </p:txBody>
        </p:sp>
        <p:cxnSp>
          <p:nvCxnSpPr>
            <p:cNvPr id="20" name="Straight Arrow Connector 19">
              <a:extLst>
                <a:ext uri="{FF2B5EF4-FFF2-40B4-BE49-F238E27FC236}">
                  <a16:creationId xmlns:a16="http://schemas.microsoft.com/office/drawing/2014/main" id="{F4BB0FA9-D3EC-A9A4-929E-AC92FADADDF1}"/>
                </a:ext>
              </a:extLst>
            </p:cNvPr>
            <p:cNvCxnSpPr>
              <a:cxnSpLocks/>
            </p:cNvCxnSpPr>
            <p:nvPr/>
          </p:nvCxnSpPr>
          <p:spPr>
            <a:xfrm>
              <a:off x="8360058" y="6223644"/>
              <a:ext cx="0" cy="136195"/>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8802F58-85E4-769F-ACB7-E0D8B1E124CF}"/>
                </a:ext>
              </a:extLst>
            </p:cNvPr>
            <p:cNvCxnSpPr>
              <a:cxnSpLocks/>
            </p:cNvCxnSpPr>
            <p:nvPr/>
          </p:nvCxnSpPr>
          <p:spPr>
            <a:xfrm flipV="1">
              <a:off x="8261112" y="6224341"/>
              <a:ext cx="0" cy="134801"/>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4D36898-C3F9-A3FC-3DC0-33459E1A25ED}"/>
                </a:ext>
              </a:extLst>
            </p:cNvPr>
            <p:cNvSpPr txBox="1"/>
            <p:nvPr/>
          </p:nvSpPr>
          <p:spPr>
            <a:xfrm>
              <a:off x="8360057" y="6198212"/>
              <a:ext cx="1875048" cy="215444"/>
            </a:xfrm>
            <a:prstGeom prst="rect">
              <a:avLst/>
            </a:prstGeom>
            <a:noFill/>
          </p:spPr>
          <p:txBody>
            <a:bodyPr wrap="square" lIns="0" tIns="45708" rIns="0" bIns="45708" anchor="t">
              <a:spAutoFit/>
            </a:bodyPr>
            <a:lstStyle/>
            <a:p>
              <a:pPr algn="ctr" defTabSz="914126" fontAlgn="base">
                <a:spcBef>
                  <a:spcPct val="50000"/>
                </a:spcBef>
                <a:spcAft>
                  <a:spcPct val="0"/>
                </a:spcAft>
                <a:buClr>
                  <a:srgbClr val="F0AB00"/>
                </a:buClr>
                <a:buSzPct val="80000"/>
              </a:pPr>
              <a:r>
                <a:rPr lang="en-US" sz="800" kern="0">
                  <a:solidFill>
                    <a:srgbClr val="000000"/>
                  </a:solidFill>
                  <a:latin typeface="72 Brand"/>
                  <a:ea typeface="Arial Unicode MS" pitchFamily="34" charset="-128"/>
                  <a:cs typeface="Arial Unicode MS" pitchFamily="34" charset="-128"/>
                </a:rPr>
                <a:t>= QoQ Impact on Overall KPI Category</a:t>
              </a:r>
            </a:p>
          </p:txBody>
        </p:sp>
      </p:grpSp>
      <p:graphicFrame>
        <p:nvGraphicFramePr>
          <p:cNvPr id="3" name="Table 2">
            <a:extLst>
              <a:ext uri="{FF2B5EF4-FFF2-40B4-BE49-F238E27FC236}">
                <a16:creationId xmlns:a16="http://schemas.microsoft.com/office/drawing/2014/main" id="{B393DF93-E240-7D92-95CE-05FE8692B6C4}"/>
              </a:ext>
            </a:extLst>
          </p:cNvPr>
          <p:cNvGraphicFramePr>
            <a:graphicFrameLocks noGrp="1"/>
          </p:cNvGraphicFramePr>
          <p:nvPr/>
        </p:nvGraphicFramePr>
        <p:xfrm>
          <a:off x="490094" y="825167"/>
          <a:ext cx="11173470" cy="304800"/>
        </p:xfrm>
        <a:graphic>
          <a:graphicData uri="http://schemas.openxmlformats.org/drawingml/2006/table">
            <a:tbl>
              <a:tblPr firstRow="1" bandRow="1">
                <a:tableStyleId>{5C22544A-7EE6-4342-B048-85BDC9FD1C3A}</a:tableStyleId>
              </a:tblPr>
              <a:tblGrid>
                <a:gridCol w="1117347">
                  <a:extLst>
                    <a:ext uri="{9D8B030D-6E8A-4147-A177-3AD203B41FA5}">
                      <a16:colId xmlns:a16="http://schemas.microsoft.com/office/drawing/2014/main" val="1555634207"/>
                    </a:ext>
                  </a:extLst>
                </a:gridCol>
                <a:gridCol w="1117347">
                  <a:extLst>
                    <a:ext uri="{9D8B030D-6E8A-4147-A177-3AD203B41FA5}">
                      <a16:colId xmlns:a16="http://schemas.microsoft.com/office/drawing/2014/main" val="34182750"/>
                    </a:ext>
                  </a:extLst>
                </a:gridCol>
                <a:gridCol w="1117347">
                  <a:extLst>
                    <a:ext uri="{9D8B030D-6E8A-4147-A177-3AD203B41FA5}">
                      <a16:colId xmlns:a16="http://schemas.microsoft.com/office/drawing/2014/main" val="803998251"/>
                    </a:ext>
                  </a:extLst>
                </a:gridCol>
                <a:gridCol w="1203509">
                  <a:extLst>
                    <a:ext uri="{9D8B030D-6E8A-4147-A177-3AD203B41FA5}">
                      <a16:colId xmlns:a16="http://schemas.microsoft.com/office/drawing/2014/main" val="2248572482"/>
                    </a:ext>
                  </a:extLst>
                </a:gridCol>
                <a:gridCol w="1031185">
                  <a:extLst>
                    <a:ext uri="{9D8B030D-6E8A-4147-A177-3AD203B41FA5}">
                      <a16:colId xmlns:a16="http://schemas.microsoft.com/office/drawing/2014/main" val="340352423"/>
                    </a:ext>
                  </a:extLst>
                </a:gridCol>
                <a:gridCol w="1117347">
                  <a:extLst>
                    <a:ext uri="{9D8B030D-6E8A-4147-A177-3AD203B41FA5}">
                      <a16:colId xmlns:a16="http://schemas.microsoft.com/office/drawing/2014/main" val="4004288427"/>
                    </a:ext>
                  </a:extLst>
                </a:gridCol>
                <a:gridCol w="1117347">
                  <a:extLst>
                    <a:ext uri="{9D8B030D-6E8A-4147-A177-3AD203B41FA5}">
                      <a16:colId xmlns:a16="http://schemas.microsoft.com/office/drawing/2014/main" val="1516235357"/>
                    </a:ext>
                  </a:extLst>
                </a:gridCol>
                <a:gridCol w="1443030">
                  <a:extLst>
                    <a:ext uri="{9D8B030D-6E8A-4147-A177-3AD203B41FA5}">
                      <a16:colId xmlns:a16="http://schemas.microsoft.com/office/drawing/2014/main" val="1835858847"/>
                    </a:ext>
                  </a:extLst>
                </a:gridCol>
                <a:gridCol w="880024">
                  <a:extLst>
                    <a:ext uri="{9D8B030D-6E8A-4147-A177-3AD203B41FA5}">
                      <a16:colId xmlns:a16="http://schemas.microsoft.com/office/drawing/2014/main" val="635713641"/>
                    </a:ext>
                  </a:extLst>
                </a:gridCol>
                <a:gridCol w="1028987">
                  <a:extLst>
                    <a:ext uri="{9D8B030D-6E8A-4147-A177-3AD203B41FA5}">
                      <a16:colId xmlns:a16="http://schemas.microsoft.com/office/drawing/2014/main" val="699600814"/>
                    </a:ext>
                  </a:extLst>
                </a:gridCol>
              </a:tblGrid>
              <a:tr h="243753">
                <a:tc>
                  <a:txBody>
                    <a:bodyPr/>
                    <a:lstStyle/>
                    <a:p>
                      <a:r>
                        <a:rPr lang="en-US" sz="1000" b="1">
                          <a:solidFill>
                            <a:schemeClr val="bg1"/>
                          </a:solidFill>
                          <a:latin typeface="72 Brand" panose="020B0504030603020204" pitchFamily="34" charset="0"/>
                        </a:rPr>
                        <a:t>Global Role Sponsor</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r>
                        <a:rPr lang="de-DE" sz="1000" b="0" i="0" u="none" strike="noStrike">
                          <a:solidFill>
                            <a:srgbClr val="000000"/>
                          </a:solidFill>
                          <a:effectLst/>
                          <a:latin typeface="72 Brand" panose="020B0504030603020204" pitchFamily="34" charset="0"/>
                        </a:rPr>
                        <a:t>Thomas </a:t>
                      </a:r>
                      <a:r>
                        <a:rPr lang="de-DE" sz="1000" b="0" i="0" u="none" strike="noStrike" err="1">
                          <a:solidFill>
                            <a:srgbClr val="000000"/>
                          </a:solidFill>
                          <a:effectLst/>
                          <a:latin typeface="72 Brand" panose="020B0504030603020204" pitchFamily="34" charset="0"/>
                        </a:rPr>
                        <a:t>Pfiester</a:t>
                      </a:r>
                      <a:r>
                        <a:rPr lang="de-DE" sz="1000" b="0" i="0" u="none" strike="noStrike">
                          <a:solidFill>
                            <a:srgbClr val="000000"/>
                          </a:solidFill>
                          <a:effectLst/>
                          <a:latin typeface="72 Brand" panose="020B0504030603020204" pitchFamily="34" charset="0"/>
                        </a:rPr>
                        <a:t> (Stephan Klein)</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72 Brand" panose="020B0504030603020204" pitchFamily="34" charset="0"/>
                        </a:rPr>
                        <a:t>Global </a:t>
                      </a:r>
                      <a:r>
                        <a:rPr lang="en-US" sz="1000" b="1" kern="1200">
                          <a:solidFill>
                            <a:schemeClr val="bg1"/>
                          </a:solidFill>
                          <a:latin typeface="72 Brand" panose="020B0504030603020204" pitchFamily="34" charset="0"/>
                          <a:ea typeface="+mn-ea"/>
                          <a:cs typeface="+mn-cs"/>
                        </a:rPr>
                        <a:t>Role Owner</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buNone/>
                      </a:pPr>
                      <a:r>
                        <a:rPr lang="de-DE" sz="1000" b="0" i="0" u="none" strike="noStrike">
                          <a:solidFill>
                            <a:srgbClr val="000000"/>
                          </a:solidFill>
                          <a:effectLst/>
                          <a:latin typeface="72 Brand" panose="020B0504030603020204" pitchFamily="34" charset="0"/>
                        </a:rPr>
                        <a:t>Alessandro Monaco</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72 Brand" panose="020B0504030603020204" pitchFamily="34" charset="0"/>
                          <a:ea typeface="+mn-ea"/>
                          <a:cs typeface="+mn-cs"/>
                        </a:rPr>
                        <a:t>APAC Role Leader</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buNone/>
                      </a:pPr>
                      <a:r>
                        <a:rPr lang="de-DE" sz="1000" b="0" i="0" u="none" strike="noStrike">
                          <a:solidFill>
                            <a:srgbClr val="000000"/>
                          </a:solidFill>
                          <a:effectLst/>
                          <a:latin typeface="72 Brand" panose="020B0504030603020204" pitchFamily="34" charset="0"/>
                        </a:rPr>
                        <a:t>Alex Aitken</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000" b="1">
                          <a:solidFill>
                            <a:schemeClr val="bg1"/>
                          </a:solidFill>
                          <a:latin typeface="72 Brand" panose="020B0504030603020204" pitchFamily="34" charset="0"/>
                        </a:rPr>
                        <a:t>APAC Role SPOC / DRI</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r>
                        <a:rPr lang="de-DE" sz="1000" b="0" i="0" u="none" strike="noStrike">
                          <a:solidFill>
                            <a:schemeClr val="tx1"/>
                          </a:solidFill>
                          <a:effectLst/>
                          <a:latin typeface="72 Brand" panose="020B0504030603020204" pitchFamily="34" charset="0"/>
                        </a:rPr>
                        <a:t>Venky (Venkateswaran) Viswanathan</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l" fontAlgn="ctr"/>
                      <a:r>
                        <a:rPr lang="de-DE" sz="1000" b="1" i="0" u="none" strike="noStrike">
                          <a:solidFill>
                            <a:schemeClr val="bg1"/>
                          </a:solidFill>
                          <a:effectLst/>
                          <a:latin typeface="72 Brand" panose="020B0504030603020204" pitchFamily="34" charset="0"/>
                        </a:rPr>
                        <a:t>Regional Status</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1B90FF"/>
                    </a:solidFill>
                  </a:tcPr>
                </a:tc>
                <a:tc>
                  <a:txBody>
                    <a:bodyPr/>
                    <a:lstStyle/>
                    <a:p>
                      <a:pPr algn="ctr" fontAlgn="ctr"/>
                      <a:r>
                        <a:rPr lang="en-US" sz="1400" b="0" i="0" u="none" strike="noStrike" kern="1200">
                          <a:solidFill>
                            <a:srgbClr val="FFC000"/>
                          </a:solidFill>
                          <a:effectLst/>
                          <a:latin typeface="+mn-lt"/>
                          <a:ea typeface="+mn-ea"/>
                          <a:cs typeface="+mn-cs"/>
                        </a:rPr>
                        <a:t>⬤</a:t>
                      </a:r>
                      <a:r>
                        <a:rPr lang="en-US" sz="1400" b="1" i="0" kern="1200">
                          <a:solidFill>
                            <a:srgbClr val="FFC000"/>
                          </a:solidFill>
                          <a:effectLst/>
                          <a:latin typeface="+mn-lt"/>
                          <a:ea typeface="+mn-ea"/>
                          <a:cs typeface="+mn-cs"/>
                        </a:rPr>
                        <a:t>​</a:t>
                      </a:r>
                      <a:endParaRPr lang="de-DE" sz="600" b="0" i="0" u="none" strike="noStrike">
                        <a:solidFill>
                          <a:srgbClr val="FFC000"/>
                        </a:solidFill>
                        <a:effectLst/>
                        <a:latin typeface="72 Brand" panose="020B0504030603020204" pitchFamily="34" charset="0"/>
                      </a:endParaRP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3726138"/>
                  </a:ext>
                </a:extLst>
              </a:tr>
            </a:tbl>
          </a:graphicData>
        </a:graphic>
      </p:graphicFrame>
      <p:sp>
        <p:nvSpPr>
          <p:cNvPr id="5" name="TextBox 4">
            <a:extLst>
              <a:ext uri="{FF2B5EF4-FFF2-40B4-BE49-F238E27FC236}">
                <a16:creationId xmlns:a16="http://schemas.microsoft.com/office/drawing/2014/main" id="{4E177297-FA89-D8C3-A4A8-76CA1DEF8637}"/>
              </a:ext>
            </a:extLst>
          </p:cNvPr>
          <p:cNvSpPr txBox="1"/>
          <p:nvPr/>
        </p:nvSpPr>
        <p:spPr>
          <a:xfrm>
            <a:off x="7811639" y="108128"/>
            <a:ext cx="2420286" cy="323165"/>
          </a:xfrm>
          <a:prstGeom prst="rect">
            <a:avLst/>
          </a:prstGeom>
          <a:solidFill>
            <a:srgbClr val="FFC000"/>
          </a:solidFill>
          <a:ln>
            <a:solidFill>
              <a:schemeClr val="bg1"/>
            </a:solidFill>
          </a:ln>
        </p:spPr>
        <p:txBody>
          <a:bodyPr wrap="square" lIns="0" tIns="0" rIns="0" bIns="0" rtlCol="0">
            <a:spAutoFit/>
          </a:bodyPr>
          <a:lstStyle/>
          <a:p>
            <a:pPr algn="l" fontAlgn="base">
              <a:spcBef>
                <a:spcPct val="50000"/>
              </a:spcBef>
              <a:spcAft>
                <a:spcPct val="0"/>
              </a:spcAft>
              <a:buClr>
                <a:srgbClr val="F0AB00"/>
              </a:buClr>
              <a:buSzPct val="80000"/>
            </a:pPr>
            <a:r>
              <a:rPr lang="en-US" kern="0">
                <a:solidFill>
                  <a:schemeClr val="bg1"/>
                </a:solidFill>
                <a:latin typeface="72 Brand" panose="020B0504030603020204" pitchFamily="34" charset="0"/>
                <a:ea typeface="Arial Unicode MS" pitchFamily="34" charset="-128"/>
                <a:cs typeface="Arial Unicode MS" pitchFamily="34" charset="-128"/>
              </a:rPr>
              <a:t>Alex Aitken / Cathy </a:t>
            </a:r>
            <a:endParaRPr lang="en-US" sz="1800" kern="0">
              <a:solidFill>
                <a:schemeClr val="bg1"/>
              </a:solidFill>
              <a:latin typeface="72 Brand" panose="020B0504030603020204"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4121810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9F017-A3B2-7019-01E1-5B6A8594E065}"/>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C0759E5-E4B8-AE3E-20CE-EE522BEE6A3A}"/>
              </a:ext>
            </a:extLst>
          </p:cNvPr>
          <p:cNvGraphicFramePr>
            <a:graphicFrameLocks/>
          </p:cNvGraphicFramePr>
          <p:nvPr>
            <p:custDataLst>
              <p:tags r:id="rId1"/>
            </p:custDataLst>
          </p:nvPr>
        </p:nvGraphicFramePr>
        <p:xfrm>
          <a:off x="3175"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3" progId="TCLayout.ActiveDocument.1">
                  <p:embed/>
                </p:oleObj>
              </mc:Choice>
              <mc:Fallback>
                <p:oleObj name="think-cell Slide" r:id="rId4" imgW="352" imgH="353" progId="TCLayout.ActiveDocument.1">
                  <p:embed/>
                  <p:pic>
                    <p:nvPicPr>
                      <p:cNvPr id="9" name="think-cell data - do not delete" hidden="1">
                        <a:extLst>
                          <a:ext uri="{FF2B5EF4-FFF2-40B4-BE49-F238E27FC236}">
                            <a16:creationId xmlns:a16="http://schemas.microsoft.com/office/drawing/2014/main" id="{5C0759E5-E4B8-AE3E-20CE-EE522BEE6A3A}"/>
                          </a:ext>
                        </a:extLst>
                      </p:cNvPr>
                      <p:cNvPicPr/>
                      <p:nvPr/>
                    </p:nvPicPr>
                    <p:blipFill>
                      <a:blip r:embed="rId5"/>
                      <a:stretch>
                        <a:fillRect/>
                      </a:stretch>
                    </p:blipFill>
                    <p:spPr>
                      <a:xfrm>
                        <a:off x="3175" y="1588"/>
                        <a:ext cx="1588" cy="1588"/>
                      </a:xfrm>
                      <a:prstGeom prst="rect">
                        <a:avLst/>
                      </a:prstGeom>
                    </p:spPr>
                  </p:pic>
                </p:oleObj>
              </mc:Fallback>
            </mc:AlternateContent>
          </a:graphicData>
        </a:graphic>
      </p:graphicFrame>
      <p:sp>
        <p:nvSpPr>
          <p:cNvPr id="4" name="Title 18">
            <a:extLst>
              <a:ext uri="{FF2B5EF4-FFF2-40B4-BE49-F238E27FC236}">
                <a16:creationId xmlns:a16="http://schemas.microsoft.com/office/drawing/2014/main" id="{BDA45F3D-02D7-7C6D-9515-B7D07B100DCF}"/>
              </a:ext>
            </a:extLst>
          </p:cNvPr>
          <p:cNvSpPr>
            <a:spLocks noGrp="1"/>
          </p:cNvSpPr>
          <p:nvPr>
            <p:ph type="title"/>
          </p:nvPr>
        </p:nvSpPr>
        <p:spPr>
          <a:xfrm>
            <a:off x="505457" y="504000"/>
            <a:ext cx="11183564" cy="369332"/>
          </a:xfrm>
        </p:spPr>
        <p:txBody>
          <a:bodyPr vert="horz" wrap="square" anchor="t">
            <a:noAutofit/>
          </a:bodyPr>
          <a:lstStyle/>
          <a:p>
            <a:pPr>
              <a:defRPr/>
            </a:pPr>
            <a:r>
              <a:rPr lang="en-US">
                <a:solidFill>
                  <a:schemeClr val="tx2">
                    <a:lumMod val="75000"/>
                  </a:schemeClr>
                </a:solidFill>
                <a:latin typeface="72 Brand Medium"/>
                <a:cs typeface="72" panose="020B0503030000000003" pitchFamily="34" charset="0"/>
              </a:rPr>
              <a:t>APAC</a:t>
            </a:r>
            <a:r>
              <a:rPr lang="en-US">
                <a:solidFill>
                  <a:srgbClr val="1990FE"/>
                </a:solidFill>
                <a:latin typeface="72 Brand Medium"/>
                <a:cs typeface="72" panose="020B0503030000000003" pitchFamily="34" charset="0"/>
              </a:rPr>
              <a:t> – </a:t>
            </a:r>
            <a:r>
              <a:rPr lang="en-US">
                <a:solidFill>
                  <a:srgbClr val="1990FE"/>
                </a:solidFill>
                <a:latin typeface="72 Brand Medium" panose="020B0604030603020204" pitchFamily="34" charset="0"/>
                <a:cs typeface="72" panose="020B0503030000000003" pitchFamily="34" charset="0"/>
              </a:rPr>
              <a:t>Qualitative Assessment of Improvement Execution </a:t>
            </a:r>
            <a:r>
              <a:rPr lang="en-US">
                <a:solidFill>
                  <a:srgbClr val="1990FE"/>
                </a:solidFill>
                <a:latin typeface="72 Brand Medium" panose="020B0604030603020204" pitchFamily="34" charset="0"/>
                <a:ea typeface="+mn-ea"/>
                <a:cs typeface="+mn-cs"/>
              </a:rPr>
              <a:t>| </a:t>
            </a:r>
            <a:r>
              <a:rPr lang="en-US">
                <a:solidFill>
                  <a:srgbClr val="000000"/>
                </a:solidFill>
                <a:latin typeface="72 Brand Medium" panose="020B0604030603020204" pitchFamily="34" charset="0"/>
              </a:rPr>
              <a:t>Enterprise Architect (EA) 2/5</a:t>
            </a:r>
            <a:endParaRPr lang="en-US">
              <a:latin typeface="72 Brand Medium" panose="020B0604030603020204" pitchFamily="34" charset="0"/>
            </a:endParaRPr>
          </a:p>
        </p:txBody>
      </p:sp>
      <p:sp>
        <p:nvSpPr>
          <p:cNvPr id="6" name="TextBox 5">
            <a:extLst>
              <a:ext uri="{FF2B5EF4-FFF2-40B4-BE49-F238E27FC236}">
                <a16:creationId xmlns:a16="http://schemas.microsoft.com/office/drawing/2014/main" id="{64320FA2-07F4-52E6-9D21-8DECF05A93BD}"/>
              </a:ext>
            </a:extLst>
          </p:cNvPr>
          <p:cNvSpPr txBox="1"/>
          <p:nvPr/>
        </p:nvSpPr>
        <p:spPr>
          <a:xfrm>
            <a:off x="8476469" y="3218006"/>
            <a:ext cx="65" cy="107694"/>
          </a:xfrm>
          <a:prstGeom prst="rect">
            <a:avLst/>
          </a:prstGeom>
          <a:solidFill>
            <a:schemeClr val="bg1"/>
          </a:solidFill>
        </p:spPr>
        <p:txBody>
          <a:bodyPr wrap="none" lIns="0" tIns="0" rIns="0" bIns="0" rtlCol="0">
            <a:spAutoFit/>
          </a:bodyPr>
          <a:lstStyle/>
          <a:p>
            <a:pPr defTabSz="914126" fontAlgn="base">
              <a:spcBef>
                <a:spcPct val="50000"/>
              </a:spcBef>
              <a:spcAft>
                <a:spcPct val="0"/>
              </a:spcAft>
              <a:buClr>
                <a:srgbClr val="F0AB00"/>
              </a:buClr>
              <a:buSzPct val="80000"/>
              <a:defRPr/>
            </a:pPr>
            <a:endParaRPr lang="en-US" sz="700" kern="0">
              <a:solidFill>
                <a:srgbClr val="000000"/>
              </a:solidFill>
              <a:latin typeface="72 Brand" panose="020B0504030603020204" pitchFamily="34" charset="0"/>
              <a:ea typeface="Arial Unicode MS" pitchFamily="34" charset="-128"/>
              <a:cs typeface="Arial Unicode MS" pitchFamily="34" charset="-128"/>
            </a:endParaRPr>
          </a:p>
        </p:txBody>
      </p:sp>
      <p:sp>
        <p:nvSpPr>
          <p:cNvPr id="7" name="TextBox 6">
            <a:extLst>
              <a:ext uri="{FF2B5EF4-FFF2-40B4-BE49-F238E27FC236}">
                <a16:creationId xmlns:a16="http://schemas.microsoft.com/office/drawing/2014/main" id="{82E93DE4-68E5-08D7-8FDF-937E69E9BEF7}"/>
              </a:ext>
            </a:extLst>
          </p:cNvPr>
          <p:cNvSpPr txBox="1"/>
          <p:nvPr/>
        </p:nvSpPr>
        <p:spPr>
          <a:xfrm>
            <a:off x="8478675" y="3217951"/>
            <a:ext cx="65" cy="107722"/>
          </a:xfrm>
          <a:prstGeom prst="rect">
            <a:avLst/>
          </a:prstGeom>
          <a:solidFill>
            <a:schemeClr val="bg1"/>
          </a:solidFill>
        </p:spPr>
        <p:txBody>
          <a:bodyPr wrap="none" lIns="0" tIns="0" rIns="0" bIns="0" rtlCol="0">
            <a:spAutoFit/>
          </a:bodyPr>
          <a:lstStyle/>
          <a:p>
            <a:pPr defTabSz="914400" fontAlgn="base">
              <a:spcBef>
                <a:spcPct val="50000"/>
              </a:spcBef>
              <a:spcAft>
                <a:spcPct val="0"/>
              </a:spcAft>
              <a:buClr>
                <a:srgbClr val="F0AB00"/>
              </a:buClr>
              <a:buSzPct val="80000"/>
              <a:defRPr/>
            </a:pPr>
            <a:endParaRPr lang="en-US" sz="700" kern="0">
              <a:solidFill>
                <a:srgbClr val="000000"/>
              </a:solidFill>
              <a:latin typeface="72 Brand" panose="020B0504030603020204" pitchFamily="34" charset="0"/>
              <a:ea typeface="Arial Unicode MS" pitchFamily="34" charset="-128"/>
              <a:cs typeface="Arial Unicode MS" pitchFamily="34" charset="-128"/>
            </a:endParaRPr>
          </a:p>
        </p:txBody>
      </p:sp>
      <p:graphicFrame>
        <p:nvGraphicFramePr>
          <p:cNvPr id="13" name="Table 12">
            <a:extLst>
              <a:ext uri="{FF2B5EF4-FFF2-40B4-BE49-F238E27FC236}">
                <a16:creationId xmlns:a16="http://schemas.microsoft.com/office/drawing/2014/main" id="{A9FB643A-824F-EC05-B012-6B5817952EE8}"/>
              </a:ext>
            </a:extLst>
          </p:cNvPr>
          <p:cNvGraphicFramePr>
            <a:graphicFrameLocks noGrp="1"/>
          </p:cNvGraphicFramePr>
          <p:nvPr/>
        </p:nvGraphicFramePr>
        <p:xfrm>
          <a:off x="4474419" y="6536690"/>
          <a:ext cx="3246336" cy="121920"/>
        </p:xfrm>
        <a:graphic>
          <a:graphicData uri="http://schemas.openxmlformats.org/drawingml/2006/table">
            <a:tbl>
              <a:tblPr/>
              <a:tblGrid>
                <a:gridCol w="161081">
                  <a:extLst>
                    <a:ext uri="{9D8B030D-6E8A-4147-A177-3AD203B41FA5}">
                      <a16:colId xmlns:a16="http://schemas.microsoft.com/office/drawing/2014/main" val="4180346206"/>
                    </a:ext>
                  </a:extLst>
                </a:gridCol>
                <a:gridCol w="483240">
                  <a:extLst>
                    <a:ext uri="{9D8B030D-6E8A-4147-A177-3AD203B41FA5}">
                      <a16:colId xmlns:a16="http://schemas.microsoft.com/office/drawing/2014/main" val="3002378608"/>
                    </a:ext>
                  </a:extLst>
                </a:gridCol>
                <a:gridCol w="161081">
                  <a:extLst>
                    <a:ext uri="{9D8B030D-6E8A-4147-A177-3AD203B41FA5}">
                      <a16:colId xmlns:a16="http://schemas.microsoft.com/office/drawing/2014/main" val="3129986239"/>
                    </a:ext>
                  </a:extLst>
                </a:gridCol>
                <a:gridCol w="418809">
                  <a:extLst>
                    <a:ext uri="{9D8B030D-6E8A-4147-A177-3AD203B41FA5}">
                      <a16:colId xmlns:a16="http://schemas.microsoft.com/office/drawing/2014/main" val="788440434"/>
                    </a:ext>
                  </a:extLst>
                </a:gridCol>
                <a:gridCol w="161081">
                  <a:extLst>
                    <a:ext uri="{9D8B030D-6E8A-4147-A177-3AD203B41FA5}">
                      <a16:colId xmlns:a16="http://schemas.microsoft.com/office/drawing/2014/main" val="2256162123"/>
                    </a:ext>
                  </a:extLst>
                </a:gridCol>
                <a:gridCol w="483240">
                  <a:extLst>
                    <a:ext uri="{9D8B030D-6E8A-4147-A177-3AD203B41FA5}">
                      <a16:colId xmlns:a16="http://schemas.microsoft.com/office/drawing/2014/main" val="2322517773"/>
                    </a:ext>
                  </a:extLst>
                </a:gridCol>
                <a:gridCol w="161081">
                  <a:extLst>
                    <a:ext uri="{9D8B030D-6E8A-4147-A177-3AD203B41FA5}">
                      <a16:colId xmlns:a16="http://schemas.microsoft.com/office/drawing/2014/main" val="2663106620"/>
                    </a:ext>
                  </a:extLst>
                </a:gridCol>
                <a:gridCol w="1216723">
                  <a:extLst>
                    <a:ext uri="{9D8B030D-6E8A-4147-A177-3AD203B41FA5}">
                      <a16:colId xmlns:a16="http://schemas.microsoft.com/office/drawing/2014/main" val="2575875232"/>
                    </a:ext>
                  </a:extLst>
                </a:gridCol>
              </a:tblGrid>
              <a:tr h="121888">
                <a:tc>
                  <a:txBody>
                    <a:bodyPr/>
                    <a:lstStyle/>
                    <a:p>
                      <a:pPr marL="0" marR="0" lvl="0" indent="0" algn="ctr" defTabSz="10883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4A41C"/>
                          </a:solidFill>
                          <a:effectLst/>
                          <a:uLnTx/>
                          <a:uFillTx/>
                          <a:latin typeface="+mn-lt"/>
                          <a:ea typeface="+mn-ea"/>
                          <a:cs typeface="+mn-cs"/>
                        </a:rPr>
                        <a:t>⬤</a:t>
                      </a:r>
                      <a:endParaRPr kumimoji="0" lang="en-US" sz="800" b="0" i="0" u="none" strike="noStrike" kern="1200" cap="none" spc="0" normalizeH="0" baseline="0" noProof="0">
                        <a:ln>
                          <a:noFill/>
                        </a:ln>
                        <a:solidFill>
                          <a:schemeClr val="accent3"/>
                        </a:solidFill>
                        <a:effectLst/>
                        <a:uLnTx/>
                        <a:uFillTx/>
                        <a:latin typeface="+mn-lt"/>
                        <a:ea typeface="Arial Unicode MS"/>
                        <a:cs typeface="Arial Unicode M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t"/>
                      <a:r>
                        <a:rPr lang="en-US" sz="800">
                          <a:solidFill>
                            <a:schemeClr val="accent3"/>
                          </a:solidFill>
                          <a:effectLst/>
                        </a:rPr>
                        <a:t>On Track</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10883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C000"/>
                          </a:solidFill>
                          <a:effectLst/>
                          <a:uLnTx/>
                          <a:uFillTx/>
                          <a:latin typeface="+mn-lt"/>
                          <a:ea typeface="+mn-ea"/>
                          <a:cs typeface="+mn-cs"/>
                        </a:rPr>
                        <a:t>⬤</a:t>
                      </a:r>
                      <a:endParaRPr kumimoji="0" lang="en-US" sz="800" b="0" i="0" u="none" strike="noStrike" kern="1200" cap="none" spc="0" normalizeH="0" baseline="0" noProof="0">
                        <a:ln>
                          <a:noFill/>
                        </a:ln>
                        <a:solidFill>
                          <a:srgbClr val="FFC000"/>
                        </a:solidFill>
                        <a:effectLst/>
                        <a:uLnTx/>
                        <a:uFillTx/>
                        <a:latin typeface="+mn-lt"/>
                        <a:ea typeface="Arial Unicode MS"/>
                        <a:cs typeface="Arial Unicode M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t"/>
                      <a:r>
                        <a:rPr lang="en-US" sz="800">
                          <a:solidFill>
                            <a:srgbClr val="FFC000"/>
                          </a:solidFill>
                          <a:effectLst/>
                        </a:rPr>
                        <a:t>At Risk</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10883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0000"/>
                          </a:solidFill>
                          <a:effectLst/>
                          <a:uLnTx/>
                          <a:uFillTx/>
                          <a:latin typeface="+mn-lt"/>
                          <a:ea typeface="+mn-ea"/>
                          <a:cs typeface="+mn-cs"/>
                        </a:rPr>
                        <a:t>⬤</a:t>
                      </a:r>
                      <a:endParaRPr kumimoji="0" lang="en-US" sz="800" b="0" i="0" u="none" strike="noStrike" kern="1200" cap="none" spc="0" normalizeH="0" baseline="0" noProof="0">
                        <a:ln>
                          <a:noFill/>
                        </a:ln>
                        <a:solidFill>
                          <a:srgbClr val="FF0000"/>
                        </a:solidFill>
                        <a:effectLst/>
                        <a:uLnTx/>
                        <a:uFillTx/>
                        <a:latin typeface="+mn-lt"/>
                        <a:ea typeface="Arial Unicode MS"/>
                        <a:cs typeface="Arial Unicode M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t"/>
                      <a:r>
                        <a:rPr lang="en-US" sz="800">
                          <a:solidFill>
                            <a:srgbClr val="FF0000"/>
                          </a:solidFill>
                          <a:effectLst/>
                        </a:rPr>
                        <a:t>Delayed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ctr" defTabSz="10883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n-lt"/>
                          <a:ea typeface="+mn-ea"/>
                          <a:cs typeface="+mn-cs"/>
                        </a:rPr>
                        <a:t>⬤</a:t>
                      </a:r>
                      <a:endParaRPr kumimoji="0" lang="en-US" sz="800" b="0" i="0" u="none" strike="noStrike" kern="1200" cap="none" spc="0" normalizeH="0" baseline="0" noProof="0">
                        <a:ln>
                          <a:noFill/>
                        </a:ln>
                        <a:solidFill>
                          <a:schemeClr val="tx1"/>
                        </a:solidFill>
                        <a:effectLst/>
                        <a:uLnTx/>
                        <a:uFillTx/>
                        <a:latin typeface="+mn-lt"/>
                        <a:ea typeface="Arial Unicode MS"/>
                        <a:cs typeface="Arial Unicode M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ctr" fontAlgn="t"/>
                      <a:r>
                        <a:rPr lang="en-US" sz="800">
                          <a:effectLst/>
                        </a:rPr>
                        <a:t>Not Started/Not Measured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71616464"/>
                  </a:ext>
                </a:extLst>
              </a:tr>
            </a:tbl>
          </a:graphicData>
        </a:graphic>
      </p:graphicFrame>
      <p:graphicFrame>
        <p:nvGraphicFramePr>
          <p:cNvPr id="8" name="Table 7">
            <a:extLst>
              <a:ext uri="{FF2B5EF4-FFF2-40B4-BE49-F238E27FC236}">
                <a16:creationId xmlns:a16="http://schemas.microsoft.com/office/drawing/2014/main" id="{109EA1FA-16D0-B796-71C8-4DE41B73F0E1}"/>
              </a:ext>
            </a:extLst>
          </p:cNvPr>
          <p:cNvGraphicFramePr>
            <a:graphicFrameLocks noGrp="1"/>
          </p:cNvGraphicFramePr>
          <p:nvPr/>
        </p:nvGraphicFramePr>
        <p:xfrm>
          <a:off x="475375" y="1376879"/>
          <a:ext cx="11232000" cy="4917332"/>
        </p:xfrm>
        <a:graphic>
          <a:graphicData uri="http://schemas.openxmlformats.org/drawingml/2006/table">
            <a:tbl>
              <a:tblPr firstRow="1" bandRow="1">
                <a:tableStyleId>{2D5ABB26-0587-4C30-8999-92F81FD0307C}</a:tableStyleId>
              </a:tblPr>
              <a:tblGrid>
                <a:gridCol w="1440000">
                  <a:extLst>
                    <a:ext uri="{9D8B030D-6E8A-4147-A177-3AD203B41FA5}">
                      <a16:colId xmlns:a16="http://schemas.microsoft.com/office/drawing/2014/main" val="846974075"/>
                    </a:ext>
                  </a:extLst>
                </a:gridCol>
                <a:gridCol w="2520000">
                  <a:extLst>
                    <a:ext uri="{9D8B030D-6E8A-4147-A177-3AD203B41FA5}">
                      <a16:colId xmlns:a16="http://schemas.microsoft.com/office/drawing/2014/main" val="1439317428"/>
                    </a:ext>
                  </a:extLst>
                </a:gridCol>
                <a:gridCol w="432852">
                  <a:extLst>
                    <a:ext uri="{9D8B030D-6E8A-4147-A177-3AD203B41FA5}">
                      <a16:colId xmlns:a16="http://schemas.microsoft.com/office/drawing/2014/main" val="3470426714"/>
                    </a:ext>
                  </a:extLst>
                </a:gridCol>
                <a:gridCol w="6839148">
                  <a:extLst>
                    <a:ext uri="{9D8B030D-6E8A-4147-A177-3AD203B41FA5}">
                      <a16:colId xmlns:a16="http://schemas.microsoft.com/office/drawing/2014/main" val="1559746743"/>
                    </a:ext>
                  </a:extLst>
                </a:gridCol>
              </a:tblGrid>
              <a:tr h="0">
                <a:tc>
                  <a:txBody>
                    <a:bodyPr/>
                    <a:lstStyle/>
                    <a:p>
                      <a:endParaRPr lang="en-US" sz="900" b="1">
                        <a:solidFill>
                          <a:schemeClr val="tx2"/>
                        </a:solidFill>
                        <a:latin typeface="+mn-lt"/>
                      </a:endParaRPr>
                    </a:p>
                  </a:txBody>
                  <a:tcPr marL="100584" marR="100584"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900" b="1">
                          <a:solidFill>
                            <a:schemeClr val="tx2"/>
                          </a:solidFill>
                          <a:latin typeface="+mn-lt"/>
                        </a:rPr>
                        <a:t>KPI</a:t>
                      </a:r>
                    </a:p>
                  </a:txBody>
                  <a:tcPr marL="73152" marR="100584" marT="36000" marB="36000" anchor="ctr">
                    <a:lnL w="12700" cap="flat" cmpd="sng" algn="ctr">
                      <a:solidFill>
                        <a:schemeClr val="bg1"/>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1">
                        <a:lumMod val="95000"/>
                      </a:schemeClr>
                    </a:solidFill>
                  </a:tcPr>
                </a:tc>
                <a:tc gridSpan="2">
                  <a:txBody>
                    <a:bodyPr/>
                    <a:lstStyle/>
                    <a:p>
                      <a:pPr algn="ctr">
                        <a:lnSpc>
                          <a:spcPct val="100000"/>
                        </a:lnSpc>
                      </a:pPr>
                      <a:r>
                        <a:rPr lang="en-US" sz="900" b="1" kern="1200">
                          <a:solidFill>
                            <a:schemeClr val="bg1"/>
                          </a:solidFill>
                          <a:latin typeface="+mn-lt"/>
                          <a:ea typeface="+mn-ea"/>
                          <a:cs typeface="+mn-cs"/>
                        </a:rPr>
                        <a:t>APAC</a:t>
                      </a:r>
                    </a:p>
                  </a:txBody>
                  <a:tcPr marL="100584" marR="100584" marT="36000" marB="36000" anchor="ctr">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tx2">
                        <a:lumMod val="75000"/>
                      </a:schemeClr>
                    </a:solidFill>
                  </a:tcPr>
                </a:tc>
                <a:tc hMerge="1">
                  <a:txBody>
                    <a:bodyPr/>
                    <a:lstStyle/>
                    <a:p>
                      <a:endParaRPr lang="en-US"/>
                    </a:p>
                  </a:txBody>
                  <a:tcPr/>
                </a:tc>
                <a:extLst>
                  <a:ext uri="{0D108BD9-81ED-4DB2-BD59-A6C34878D82A}">
                    <a16:rowId xmlns:a16="http://schemas.microsoft.com/office/drawing/2014/main" val="77277349"/>
                  </a:ext>
                </a:extLst>
              </a:tr>
              <a:tr h="125844">
                <a:tc rowSpan="4">
                  <a:txBody>
                    <a:bodyPr/>
                    <a:lstStyle/>
                    <a:p>
                      <a:r>
                        <a:rPr lang="en-US" sz="900" b="1" kern="1200">
                          <a:solidFill>
                            <a:schemeClr val="bg1"/>
                          </a:solidFill>
                          <a:latin typeface="+mn-lt"/>
                          <a:ea typeface="+mn-ea"/>
                          <a:cs typeface="+mn-cs"/>
                        </a:rPr>
                        <a:t>Business Impact</a:t>
                      </a:r>
                    </a:p>
                  </a:txBody>
                  <a:tcPr marL="108000" marR="100584" anchor="ctr">
                    <a:lnR>
                      <a:noFill/>
                    </a:lnR>
                    <a:lnT w="12700" cap="flat" cmpd="sng" algn="ctr">
                      <a:solidFill>
                        <a:schemeClr val="bg1">
                          <a:lumMod val="95000"/>
                        </a:schemeClr>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Joule Activated</a:t>
                      </a:r>
                    </a:p>
                  </a:txBody>
                  <a:tcPr marL="72000" marR="72000" marT="36000" marB="36000" anchor="ctr">
                    <a:lnL>
                      <a:noFill/>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0000"/>
                          </a:solidFill>
                          <a:latin typeface="72 Brand (body)"/>
                          <a:ea typeface="Arial Unicode MS"/>
                          <a:cs typeface="72"/>
                        </a:rPr>
                        <a:t>⬤</a:t>
                      </a:r>
                      <a:endParaRPr lang="en-DE" sz="900" kern="0">
                        <a:solidFill>
                          <a:srgbClr val="FF0000"/>
                        </a:solidFill>
                        <a:latin typeface="72 Brand (body)"/>
                        <a:ea typeface="Arial Unicode MS"/>
                        <a:cs typeface="72"/>
                      </a:endParaRP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a:rPr>
                        <a:t>APAC YTD attainment of 60% vs Q3 target of 65%. Will progressively achieve the RBT targets. Lack of clarity on SAP managed Joule and shift from premium to Base hindering progress.</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77637171"/>
                  </a:ext>
                </a:extLst>
              </a:tr>
              <a:tr h="0">
                <a:tc vMerge="1">
                  <a:txBody>
                    <a:bodyPr/>
                    <a:lstStyle/>
                    <a:p>
                      <a:endParaRPr lang="en-US" sz="900" b="1" kern="1200">
                        <a:solidFill>
                          <a:schemeClr val="bg1"/>
                        </a:solidFill>
                        <a:latin typeface="+mn-lt"/>
                        <a:ea typeface="+mn-ea"/>
                        <a:cs typeface="+mn-cs"/>
                      </a:endParaRPr>
                    </a:p>
                  </a:txBody>
                  <a:tcPr marL="45720" marR="100584" anchor="ctr">
                    <a:lnR>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AI Adoption Plan</a:t>
                      </a:r>
                    </a:p>
                  </a:txBody>
                  <a:tcPr marL="72000" marR="72000" marT="36000" marB="36000" anchor="ctr">
                    <a:lnL>
                      <a:noFill/>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a:rPr>
                        <a:t>APAC YTD attainment of 69% vs Q3 target of 75%. Will progressively achieve the RBT targets. Should become a part of EA MXP</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901469152"/>
                  </a:ext>
                </a:extLst>
              </a:tr>
              <a:tr h="125844">
                <a:tc vMerge="1">
                  <a:txBody>
                    <a:bodyPr/>
                    <a:lstStyle/>
                    <a:p>
                      <a:endParaRPr lang="en-US" sz="900" b="1" kern="1200">
                        <a:solidFill>
                          <a:schemeClr val="bg1"/>
                        </a:solidFill>
                        <a:latin typeface="+mn-lt"/>
                        <a:ea typeface="+mn-ea"/>
                        <a:cs typeface="+mn-cs"/>
                      </a:endParaRPr>
                    </a:p>
                  </a:txBody>
                  <a:tcPr marL="45720" marR="100584" anchor="ctr">
                    <a:lnR>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tx2"/>
                    </a:solidFill>
                  </a:tcPr>
                </a:tc>
                <a:tc>
                  <a:txBody>
                    <a:bodyPr/>
                    <a:lstStyle/>
                    <a:p>
                      <a:pPr marL="0" indent="0" algn="l">
                        <a:buNone/>
                      </a:pPr>
                      <a:r>
                        <a:rPr lang="en-US" sz="900" b="1" i="0" u="none" strike="noStrike" kern="1200" err="1">
                          <a:solidFill>
                            <a:srgbClr val="000000"/>
                          </a:solidFill>
                          <a:effectLst/>
                          <a:latin typeface="+mn-lt"/>
                          <a:ea typeface="+mn-ea"/>
                          <a:cs typeface="+mn-cs"/>
                        </a:rPr>
                        <a:t>RwSM</a:t>
                      </a:r>
                      <a:r>
                        <a:rPr lang="en-US" sz="900" b="1" i="0" u="none" strike="noStrike" kern="1200">
                          <a:solidFill>
                            <a:srgbClr val="000000"/>
                          </a:solidFill>
                          <a:effectLst/>
                          <a:latin typeface="+mn-lt"/>
                          <a:ea typeface="+mn-ea"/>
                          <a:cs typeface="+mn-cs"/>
                        </a:rPr>
                        <a:t> Dashboard activated</a:t>
                      </a:r>
                    </a:p>
                  </a:txBody>
                  <a:tcPr marL="72000" marR="72000" marT="36000" marB="36000" anchor="ctr">
                    <a:lnL>
                      <a:noFill/>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000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a:rPr>
                        <a:t>APAC YTD attainment of 38% vs Q3 target of 55%. Will progressively achieve the RBT targets. Challenge on availability of data has been overcome</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861386037"/>
                  </a:ext>
                </a:extLst>
              </a:tr>
              <a:tr h="0">
                <a:tc vMerge="1">
                  <a:txBody>
                    <a:bodyPr/>
                    <a:lstStyle/>
                    <a:p>
                      <a:endParaRPr lang="en-US"/>
                    </a:p>
                  </a:txBody>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Risk Assessment available</a:t>
                      </a:r>
                    </a:p>
                  </a:txBody>
                  <a:tcPr marL="72000" marR="72000" marT="36000" marB="36000" anchor="ctr">
                    <a:lnL>
                      <a:noFill/>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00B05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a:rPr>
                        <a:t>APAC YTD attainment of 81% vs Q3 target of 50%.</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9615500"/>
                  </a:ext>
                </a:extLst>
              </a:tr>
              <a:tr h="0">
                <a:tc rowSpan="4">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900" b="1">
                          <a:solidFill>
                            <a:schemeClr val="bg1"/>
                          </a:solidFill>
                          <a:latin typeface="+mn-lt"/>
                        </a:rPr>
                        <a:t>Tool Adoption</a:t>
                      </a:r>
                    </a:p>
                  </a:txBody>
                  <a:tcPr marL="10800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CALM Tenant Activated</a:t>
                      </a:r>
                    </a:p>
                  </a:txBody>
                  <a:tcPr marL="72000"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a:rPr>
                        <a:t>APAC YTD attainment of 90% vs Q3 target of 90%. On track</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6454975"/>
                  </a:ext>
                </a:extLst>
              </a:tr>
              <a:tr h="0">
                <a:tc vMerge="1">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endParaRPr lang="en-US" sz="900" b="1">
                        <a:solidFill>
                          <a:schemeClr val="bg1"/>
                        </a:solidFill>
                        <a:latin typeface="+mn-lt"/>
                      </a:endParaRPr>
                    </a:p>
                  </a:txBody>
                  <a:tcPr marL="4572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Gainsight Usage</a:t>
                      </a:r>
                    </a:p>
                  </a:txBody>
                  <a:tcPr marL="72000"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1088558"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72 Brand (body)"/>
                        </a:rPr>
                        <a:t>APAC YTD attainment of 81% vs Q3 target of 90%. This is gaining traction. Lack of EA KPIs other than these two a hinderance.</a:t>
                      </a:r>
                    </a:p>
                  </a:txBody>
                  <a:tcPr marL="7620" marR="7620" marT="7620" marB="0" anchor="ctr">
                    <a:lnL w="31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6202667"/>
                  </a:ext>
                </a:extLst>
              </a:tr>
              <a:tr h="0">
                <a:tc vMerge="1">
                  <a:txBody>
                    <a:bodyPr/>
                    <a:lstStyle/>
                    <a:p>
                      <a:endParaRPr lang="en-DE"/>
                    </a:p>
                  </a:txBody>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Active </a:t>
                      </a:r>
                      <a:r>
                        <a:rPr lang="en-US" sz="900" b="1" i="0" u="none" strike="noStrike" kern="1200" err="1">
                          <a:solidFill>
                            <a:srgbClr val="000000"/>
                          </a:solidFill>
                          <a:effectLst/>
                          <a:latin typeface="+mn-lt"/>
                          <a:ea typeface="+mn-ea"/>
                          <a:cs typeface="+mn-cs"/>
                        </a:rPr>
                        <a:t>Signavio</a:t>
                      </a:r>
                      <a:r>
                        <a:rPr lang="en-US" sz="900" b="1" i="0" u="none" strike="noStrike" kern="1200">
                          <a:solidFill>
                            <a:srgbClr val="000000"/>
                          </a:solidFill>
                          <a:effectLst/>
                          <a:latin typeface="+mn-lt"/>
                          <a:ea typeface="+mn-ea"/>
                          <a:cs typeface="+mn-cs"/>
                        </a:rPr>
                        <a:t> Usage</a:t>
                      </a:r>
                    </a:p>
                  </a:txBody>
                  <a:tcPr marL="72000"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000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1088558"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72 Brand (body)"/>
                        </a:rPr>
                        <a:t>APAC YTD attainment of 72% vs Q3 target of 65%. Focus on the customer instances for the next quarter</a:t>
                      </a:r>
                    </a:p>
                  </a:txBody>
                  <a:tcPr marL="7620" marR="7620" marT="7620" marB="0" anchor="ctr">
                    <a:lnL w="31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90953197"/>
                  </a:ext>
                </a:extLst>
              </a:tr>
              <a:tr h="0">
                <a:tc vMerge="1">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endParaRPr lang="en-US" sz="900" b="1">
                        <a:solidFill>
                          <a:schemeClr val="bg1"/>
                        </a:solidFill>
                        <a:latin typeface="+mn-lt"/>
                      </a:endParaRPr>
                    </a:p>
                  </a:txBody>
                  <a:tcPr marL="4572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rgbClr val="000000"/>
                          </a:solidFill>
                          <a:effectLst/>
                          <a:latin typeface="+mn-lt"/>
                          <a:ea typeface="+mn-ea"/>
                          <a:cs typeface="+mn-cs"/>
                        </a:rPr>
                        <a:t>Active </a:t>
                      </a:r>
                      <a:r>
                        <a:rPr lang="en-US" sz="900" b="1" i="0" u="none" strike="noStrike" kern="1200" err="1">
                          <a:solidFill>
                            <a:srgbClr val="000000"/>
                          </a:solidFill>
                          <a:effectLst/>
                          <a:latin typeface="+mn-lt"/>
                          <a:ea typeface="+mn-ea"/>
                          <a:cs typeface="+mn-cs"/>
                        </a:rPr>
                        <a:t>LeanIX</a:t>
                      </a:r>
                      <a:r>
                        <a:rPr lang="en-US" sz="900" b="1" i="0" u="none" strike="noStrike" kern="1200">
                          <a:solidFill>
                            <a:srgbClr val="000000"/>
                          </a:solidFill>
                          <a:effectLst/>
                          <a:latin typeface="+mn-lt"/>
                          <a:ea typeface="+mn-ea"/>
                          <a:cs typeface="+mn-cs"/>
                        </a:rPr>
                        <a:t> Usage</a:t>
                      </a:r>
                    </a:p>
                  </a:txBody>
                  <a:tcPr marL="72000"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0000"/>
                          </a:solidFill>
                          <a:latin typeface="72 Brand (body)"/>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1088558"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72 Brand (body)"/>
                        </a:rPr>
                        <a:t>APAC YTD attainment of 91% vs Q3 target of 50%. Focus on the customer instances for the next quarter</a:t>
                      </a:r>
                    </a:p>
                  </a:txBody>
                  <a:tcPr marL="7620" marR="7620" marT="7620" marB="0" anchor="ctr">
                    <a:lnL w="31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74496221"/>
                  </a:ext>
                </a:extLst>
              </a:tr>
              <a:tr h="0">
                <a:tc rowSpan="4">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900" b="1">
                          <a:solidFill>
                            <a:schemeClr val="bg1"/>
                          </a:solidFill>
                          <a:latin typeface="+mn-lt"/>
                        </a:rPr>
                        <a:t>Coverage</a:t>
                      </a:r>
                    </a:p>
                  </a:txBody>
                  <a:tcPr marL="10800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marL="0" marR="0" lvl="0" indent="0" algn="l" defTabSz="1088231" rtl="0" eaLnBrk="1" fontAlgn="ctr" latinLnBrk="0" hangingPunct="1">
                        <a:lnSpc>
                          <a:spcPts val="1050"/>
                        </a:lnSpc>
                        <a:spcBef>
                          <a:spcPts val="0"/>
                        </a:spcBef>
                        <a:spcAft>
                          <a:spcPts val="0"/>
                        </a:spcAft>
                        <a:buClrTx/>
                        <a:buSzTx/>
                        <a:buFontTx/>
                        <a:buNone/>
                        <a:tabLst/>
                        <a:defRPr/>
                      </a:pPr>
                      <a:r>
                        <a:rPr lang="en-US" sz="900" b="1" i="0" u="none" strike="noStrike" kern="1200">
                          <a:solidFill>
                            <a:schemeClr val="tx1"/>
                          </a:solidFill>
                          <a:effectLst/>
                          <a:latin typeface="+mn-lt"/>
                          <a:ea typeface="+mn-ea"/>
                          <a:cs typeface="+mn-cs"/>
                        </a:rPr>
                        <a:t>EA Coverage (# of Customers)</a:t>
                      </a:r>
                    </a:p>
                  </a:txBody>
                  <a:tcPr marL="73152"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panose="020B0604020202020204"/>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panose="020B0604020202020204"/>
                        </a:rPr>
                        <a:t>APAC YTD attainment of 32% vs Q3 target of 31.5%. Coverage calculated based on eligible customer baseline.</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1226842"/>
                  </a:ext>
                </a:extLst>
              </a:tr>
              <a:tr h="0">
                <a:tc vMerge="1">
                  <a:txBody>
                    <a:bodyPr/>
                    <a:lstStyle/>
                    <a:p>
                      <a:endParaRPr/>
                    </a:p>
                  </a:txBody>
                  <a:tcPr marL="4572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chemeClr val="tx1"/>
                          </a:solidFill>
                          <a:effectLst/>
                          <a:latin typeface="+mn-lt"/>
                          <a:ea typeface="+mn-ea"/>
                          <a:cs typeface="+mn-cs"/>
                        </a:rPr>
                        <a:t>EA Coverage (Exit ACV)</a:t>
                      </a:r>
                    </a:p>
                  </a:txBody>
                  <a:tcPr marL="73152"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panose="020B0604020202020204"/>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lang="en-US" sz="900" b="0" i="0" u="none" strike="noStrike">
                          <a:solidFill>
                            <a:srgbClr val="000000"/>
                          </a:solidFill>
                          <a:effectLst/>
                          <a:latin typeface="72 Brand (body)" panose="020B0604020202020204"/>
                        </a:rPr>
                        <a:t>APAC YTD attainment of 73% vs Q3 target of 74%. Coverage calculated based on eligible ACV baseline.</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38842600"/>
                  </a:ext>
                </a:extLst>
              </a:tr>
              <a:tr h="0">
                <a:tc vMerge="1">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endParaRPr lang="en-US" sz="1000" b="1">
                        <a:solidFill>
                          <a:schemeClr val="bg1"/>
                        </a:solidFill>
                        <a:latin typeface="+mn-lt"/>
                      </a:endParaRPr>
                    </a:p>
                  </a:txBody>
                  <a:tcPr marL="10800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algn="l" fontAlgn="ctr">
                        <a:buNone/>
                      </a:pPr>
                      <a:r>
                        <a:rPr lang="en-US" sz="900" b="1" i="0" u="none" strike="noStrike">
                          <a:solidFill>
                            <a:schemeClr val="tx1"/>
                          </a:solidFill>
                          <a:effectLst/>
                          <a:latin typeface="+mn-lt"/>
                        </a:rPr>
                        <a:t>EA Customer Density</a:t>
                      </a:r>
                    </a:p>
                  </a:txBody>
                  <a:tcPr marL="72000"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188918"/>
                          </a:solidFill>
                          <a:latin typeface="72 Brand (body)" panose="020B0604020202020204"/>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kumimoji="0" lang="en-US" sz="900" b="0" i="0" u="none" strike="noStrike" kern="0" cap="none" spc="0" normalizeH="0" baseline="0" noProof="0">
                          <a:ln>
                            <a:noFill/>
                          </a:ln>
                          <a:solidFill>
                            <a:srgbClr val="000000"/>
                          </a:solidFill>
                          <a:effectLst/>
                          <a:uLnTx/>
                          <a:uFillTx/>
                          <a:latin typeface="72 Brand (body)" panose="020B0604020202020204"/>
                          <a:ea typeface="Arial Unicode MS"/>
                          <a:cs typeface="Arial Unicode MS"/>
                        </a:rPr>
                        <a:t>On Track</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51105415"/>
                  </a:ext>
                </a:extLst>
              </a:tr>
              <a:tr h="0">
                <a:tc vMerge="1">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endParaRPr lang="en-US" sz="1000" b="1">
                        <a:solidFill>
                          <a:schemeClr val="bg1"/>
                        </a:solidFill>
                        <a:latin typeface="+mn-lt"/>
                      </a:endParaRPr>
                    </a:p>
                  </a:txBody>
                  <a:tcPr marL="10800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solidFill>
                  </a:tcPr>
                </a:tc>
                <a:tc>
                  <a:txBody>
                    <a:bodyPr/>
                    <a:lstStyle/>
                    <a:p>
                      <a:pPr algn="l" fontAlgn="ctr">
                        <a:buNone/>
                      </a:pPr>
                      <a:r>
                        <a:rPr lang="en-US" sz="900" b="1" i="0" u="none" strike="noStrike">
                          <a:solidFill>
                            <a:schemeClr val="tx1"/>
                          </a:solidFill>
                          <a:effectLst/>
                          <a:latin typeface="+mn-lt"/>
                        </a:rPr>
                        <a:t>EA ACV Density</a:t>
                      </a:r>
                    </a:p>
                  </a:txBody>
                  <a:tcPr marL="72000"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panose="020B0604020202020204"/>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kumimoji="0" lang="en-US" sz="900" b="0" i="0" u="none" strike="noStrike" kern="0" cap="none" spc="0" normalizeH="0" baseline="0" noProof="0">
                          <a:ln>
                            <a:noFill/>
                          </a:ln>
                          <a:solidFill>
                            <a:srgbClr val="000000"/>
                          </a:solidFill>
                          <a:effectLst/>
                          <a:uLnTx/>
                          <a:uFillTx/>
                          <a:latin typeface="72 Brand (body)" panose="020B0604020202020204"/>
                          <a:ea typeface="Arial Unicode MS"/>
                          <a:cs typeface="Arial Unicode MS"/>
                        </a:rPr>
                        <a:t>On Track</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8398951"/>
                  </a:ext>
                </a:extLst>
              </a:tr>
              <a:tr h="0">
                <a:tc rowSpan="2">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900" b="1">
                          <a:solidFill>
                            <a:schemeClr val="bg1"/>
                          </a:solidFill>
                          <a:latin typeface="+mn-lt"/>
                        </a:rPr>
                        <a:t>Learning</a:t>
                      </a:r>
                    </a:p>
                  </a:txBody>
                  <a:tcPr marL="10800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solidFill>
                  </a:tcPr>
                </a:tc>
                <a:tc>
                  <a:txBody>
                    <a:bodyPr/>
                    <a:lstStyle/>
                    <a:p>
                      <a:pPr marL="0" marR="0" lvl="0" indent="0" algn="l" defTabSz="1088231" rtl="0" eaLnBrk="1" fontAlgn="ctr"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n-lt"/>
                          <a:ea typeface="+mn-ea"/>
                          <a:cs typeface="+mn-cs"/>
                        </a:rPr>
                        <a:t>Lean IX Enablement</a:t>
                      </a:r>
                    </a:p>
                  </a:txBody>
                  <a:tcPr marL="73152"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panose="020B0604020202020204"/>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kumimoji="0" lang="en-US" sz="900" b="0" i="0" u="none" strike="noStrike" kern="0" cap="none" spc="0" normalizeH="0" baseline="0" noProof="0">
                          <a:ln>
                            <a:noFill/>
                          </a:ln>
                          <a:solidFill>
                            <a:srgbClr val="000000"/>
                          </a:solidFill>
                          <a:effectLst/>
                          <a:uLnTx/>
                          <a:uFillTx/>
                          <a:latin typeface="72 Brand (body)" panose="020B0604020202020204"/>
                          <a:ea typeface="Arial Unicode MS"/>
                          <a:cs typeface="Arial Unicode MS"/>
                        </a:rPr>
                        <a:t>Only New hires to get certified.</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34707998"/>
                  </a:ext>
                </a:extLst>
              </a:tr>
              <a:tr h="0">
                <a:tc vMerge="1">
                  <a:txBody>
                    <a:bodyPr/>
                    <a:lstStyle/>
                    <a:p>
                      <a:endParaRPr/>
                    </a:p>
                  </a:txBody>
                  <a:tcPr marL="45720" marR="100584"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7620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tx2"/>
                    </a:solidFill>
                  </a:tcPr>
                </a:tc>
                <a:tc>
                  <a:txBody>
                    <a:bodyPr/>
                    <a:lstStyle/>
                    <a:p>
                      <a:pPr marL="0" algn="l" defTabSz="1088231" rtl="0" eaLnBrk="1" fontAlgn="ctr" latinLnBrk="0" hangingPunct="1">
                        <a:buNone/>
                      </a:pPr>
                      <a:r>
                        <a:rPr lang="en-US" sz="900" b="1" i="0" u="none" strike="noStrike" kern="1200">
                          <a:solidFill>
                            <a:schemeClr val="tx1"/>
                          </a:solidFill>
                          <a:effectLst/>
                          <a:latin typeface="+mn-lt"/>
                          <a:ea typeface="+mn-ea"/>
                          <a:cs typeface="+mn-cs"/>
                        </a:rPr>
                        <a:t>EA Learning Journey</a:t>
                      </a:r>
                    </a:p>
                  </a:txBody>
                  <a:tcPr marL="73152" marR="72000" marT="36000" marB="36000" anchor="ctr">
                    <a:lnL w="12700" cap="flat" cmpd="sng" algn="ctr">
                      <a:solidFill>
                        <a:schemeClr val="bg1">
                          <a:lumMod val="9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0" indent="0" algn="ctr">
                        <a:buFont typeface="Arial" panose="020B0604020202020204" pitchFamily="34" charset="0"/>
                        <a:buNone/>
                      </a:pPr>
                      <a:r>
                        <a:rPr lang="en-US" sz="900" kern="0">
                          <a:solidFill>
                            <a:srgbClr val="FFC000"/>
                          </a:solidFill>
                          <a:latin typeface="72 Brand (body)" panose="020B0604020202020204"/>
                          <a:ea typeface="Arial Unicode MS"/>
                          <a:cs typeface="72"/>
                        </a:rPr>
                        <a:t>⬤</a:t>
                      </a:r>
                    </a:p>
                  </a:txBody>
                  <a:tcPr marL="18288" marR="18288" marT="18288" marB="18288" anchor="ctr">
                    <a:lnL w="28575"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solidFill>
                      <a:schemeClr val="bg2">
                        <a:lumMod val="20000"/>
                        <a:lumOff val="80000"/>
                      </a:schemeClr>
                    </a:solidFill>
                  </a:tcPr>
                </a:tc>
                <a:tc>
                  <a:txBody>
                    <a:bodyPr/>
                    <a:lstStyle/>
                    <a:p>
                      <a:pPr marL="12700" marR="0" lvl="0" indent="0" algn="l" defTabSz="914126" rtl="0" eaLnBrk="1" fontAlgn="base" latinLnBrk="0" hangingPunct="1">
                        <a:lnSpc>
                          <a:spcPct val="100000"/>
                        </a:lnSpc>
                        <a:spcBef>
                          <a:spcPts val="0"/>
                        </a:spcBef>
                        <a:spcAft>
                          <a:spcPct val="0"/>
                        </a:spcAft>
                        <a:buClr>
                          <a:srgbClr val="F0AB00"/>
                        </a:buClr>
                        <a:buSzPct val="100000"/>
                        <a:buFont typeface="Wingdings" panose="05000000000000000000" pitchFamily="2" charset="2"/>
                        <a:buNone/>
                        <a:tabLst/>
                        <a:defRPr/>
                      </a:pPr>
                      <a:r>
                        <a:rPr kumimoji="0" lang="en-US" sz="900" b="0" i="0" u="none" strike="noStrike" kern="0" cap="none" spc="0" normalizeH="0" baseline="0" noProof="0">
                          <a:ln>
                            <a:noFill/>
                          </a:ln>
                          <a:solidFill>
                            <a:srgbClr val="000000"/>
                          </a:solidFill>
                          <a:effectLst/>
                          <a:uLnTx/>
                          <a:uFillTx/>
                          <a:latin typeface="72 Brand (body)" panose="020B0604020202020204"/>
                          <a:ea typeface="Arial Unicode MS"/>
                          <a:cs typeface="Arial Unicode MS"/>
                        </a:rPr>
                        <a:t>Only New hires to get certified. Lack of IEA10 Budget a hinderance</a:t>
                      </a:r>
                    </a:p>
                  </a:txBody>
                  <a:tcPr marL="18288" marR="18288" marT="18288" marB="18288" anchor="ctr">
                    <a:lnL w="6350"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24160078"/>
                  </a:ext>
                </a:extLst>
              </a:tr>
              <a:tr h="690909">
                <a:tc gridSpan="2">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mn-lt"/>
                        </a:rPr>
                        <a:t>Global Observations*</a:t>
                      </a:r>
                    </a:p>
                  </a:txBody>
                  <a:tcPr marL="108000" marR="100584" anchor="ctr">
                    <a:lnL w="12700" cap="flat" cmpd="sng" algn="ctr">
                      <a:no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hMerge="1">
                  <a:txBody>
                    <a:bodyPr/>
                    <a:lstStyle/>
                    <a:p>
                      <a:endParaRPr lang="en-US"/>
                    </a:p>
                  </a:txBody>
                  <a:tcPr/>
                </a:tc>
                <a:tc gridSpan="2">
                  <a:txBody>
                    <a:bodyPr/>
                    <a:lstStyle/>
                    <a:p>
                      <a:pPr marL="171450" marR="0" lvl="0" indent="-171450" algn="l" defTabSz="1088231" rtl="0" eaLnBrk="1" fontAlgn="base" latinLnBrk="0" hangingPunct="1">
                        <a:lnSpc>
                          <a:spcPct val="100000"/>
                        </a:lnSpc>
                        <a:spcBef>
                          <a:spcPts val="0"/>
                        </a:spcBef>
                        <a:spcAft>
                          <a:spcPct val="0"/>
                        </a:spcAft>
                        <a:buClrTx/>
                        <a:buSzPct val="100000"/>
                        <a:buFont typeface="Arial" panose="020B0604020202020204" pitchFamily="34" charset="0"/>
                        <a:buChar char="•"/>
                        <a:tabLst/>
                        <a:defRPr/>
                      </a:pPr>
                      <a:r>
                        <a:rPr lang="en-US" sz="900" b="0" i="0" u="none" strike="noStrike" kern="1200" noProof="0">
                          <a:solidFill>
                            <a:srgbClr val="000000"/>
                          </a:solidFill>
                          <a:effectLst/>
                          <a:latin typeface="+mn-lt"/>
                          <a:ea typeface="+mn-ea"/>
                          <a:cs typeface="+mn-cs"/>
                        </a:rPr>
                        <a:t>Several KPIs which are below target are in line with the expected Q2 progress to be able to reach the final year end target.</a:t>
                      </a:r>
                    </a:p>
                    <a:p>
                      <a:pPr marL="171450" marR="0" lvl="0" indent="-171450" algn="l" defTabSz="1088231" rtl="0" eaLnBrk="1" fontAlgn="base" latinLnBrk="0" hangingPunct="1">
                        <a:lnSpc>
                          <a:spcPct val="100000"/>
                        </a:lnSpc>
                        <a:spcBef>
                          <a:spcPts val="0"/>
                        </a:spcBef>
                        <a:spcAft>
                          <a:spcPct val="0"/>
                        </a:spcAft>
                        <a:buClrTx/>
                        <a:buSzPct val="100000"/>
                        <a:buFont typeface="Arial" panose="020B0604020202020204" pitchFamily="34" charset="0"/>
                        <a:buChar char="•"/>
                        <a:tabLst/>
                        <a:defRPr/>
                      </a:pPr>
                      <a:r>
                        <a:rPr lang="en-US" sz="900" b="0" i="0" u="none" strike="noStrike" kern="1200" noProof="0">
                          <a:solidFill>
                            <a:srgbClr val="000000"/>
                          </a:solidFill>
                          <a:effectLst/>
                          <a:latin typeface="+mn-lt"/>
                          <a:ea typeface="+mn-ea"/>
                          <a:cs typeface="+mn-cs"/>
                        </a:rPr>
                        <a:t>Comparison with the previous report is not significant for the KPIs for several reasons: the EA assignments have been finalized, new KPIs, and changes in KPIs calculation.</a:t>
                      </a:r>
                    </a:p>
                    <a:p>
                      <a:pPr marL="171450" marR="0" lvl="0" indent="-171450" algn="l" defTabSz="1088231" rtl="0" eaLnBrk="1" fontAlgn="base" latinLnBrk="0" hangingPunct="1">
                        <a:lnSpc>
                          <a:spcPct val="100000"/>
                        </a:lnSpc>
                        <a:spcBef>
                          <a:spcPts val="0"/>
                        </a:spcBef>
                        <a:spcAft>
                          <a:spcPct val="0"/>
                        </a:spcAft>
                        <a:buClrTx/>
                        <a:buSzPct val="100000"/>
                        <a:buFont typeface="Arial" panose="020B0604020202020204" pitchFamily="34" charset="0"/>
                        <a:buChar char="•"/>
                        <a:tabLst/>
                        <a:defRPr/>
                      </a:pPr>
                      <a:r>
                        <a:rPr lang="en-US" sz="900" b="0" i="0" u="none" strike="noStrike" kern="1200" noProof="0">
                          <a:solidFill>
                            <a:srgbClr val="000000"/>
                          </a:solidFill>
                          <a:effectLst/>
                          <a:latin typeface="+mn-lt"/>
                          <a:ea typeface="+mn-ea"/>
                          <a:cs typeface="+mn-cs"/>
                        </a:rPr>
                        <a:t>The Coverage based on the number of accounts show a low percentage as this is now considering the very broad eligible number of Business Partners grouped under the eligible planning entity.</a:t>
                      </a:r>
                    </a:p>
                    <a:p>
                      <a:pPr marL="171450" marR="0" lvl="0" indent="-171450" algn="l" defTabSz="1088231" rtl="0" eaLnBrk="1" fontAlgn="base" latinLnBrk="0" hangingPunct="1">
                        <a:lnSpc>
                          <a:spcPct val="100000"/>
                        </a:lnSpc>
                        <a:spcBef>
                          <a:spcPts val="0"/>
                        </a:spcBef>
                        <a:spcAft>
                          <a:spcPct val="0"/>
                        </a:spcAft>
                        <a:buClrTx/>
                        <a:buSzPct val="100000"/>
                        <a:buFont typeface="Arial" panose="020B0604020202020204" pitchFamily="34" charset="0"/>
                        <a:buChar char="•"/>
                        <a:tabLst/>
                        <a:defRPr/>
                      </a:pPr>
                      <a:r>
                        <a:rPr lang="en-US" sz="900" b="0" i="0" u="none" strike="noStrike" kern="1200" noProof="0">
                          <a:solidFill>
                            <a:srgbClr val="000000"/>
                          </a:solidFill>
                          <a:effectLst/>
                          <a:latin typeface="+mn-lt"/>
                          <a:ea typeface="+mn-ea"/>
                          <a:cs typeface="+mn-cs"/>
                        </a:rPr>
                        <a:t>Coverage on the </a:t>
                      </a:r>
                      <a:r>
                        <a:rPr lang="en-US" sz="900" b="0" i="0" u="none" strike="noStrike" kern="1200" noProof="0" err="1">
                          <a:solidFill>
                            <a:srgbClr val="000000"/>
                          </a:solidFill>
                          <a:effectLst/>
                          <a:latin typeface="+mn-lt"/>
                          <a:ea typeface="+mn-ea"/>
                          <a:cs typeface="+mn-cs"/>
                        </a:rPr>
                        <a:t>ExitACV</a:t>
                      </a:r>
                      <a:r>
                        <a:rPr lang="en-US" sz="900" b="0" i="0" u="none" strike="noStrike" kern="1200" noProof="0">
                          <a:solidFill>
                            <a:srgbClr val="000000"/>
                          </a:solidFill>
                          <a:effectLst/>
                          <a:latin typeface="+mn-lt"/>
                          <a:ea typeface="+mn-ea"/>
                          <a:cs typeface="+mn-cs"/>
                        </a:rPr>
                        <a:t> base show that the focus on the most important targets is effective.</a:t>
                      </a:r>
                    </a:p>
                    <a:p>
                      <a:pPr marL="171450" marR="0" lvl="0" indent="-171450" algn="l" defTabSz="1088231" rtl="0" eaLnBrk="1" fontAlgn="base" latinLnBrk="0" hangingPunct="1">
                        <a:lnSpc>
                          <a:spcPct val="100000"/>
                        </a:lnSpc>
                        <a:spcBef>
                          <a:spcPts val="0"/>
                        </a:spcBef>
                        <a:spcAft>
                          <a:spcPct val="0"/>
                        </a:spcAft>
                        <a:buClrTx/>
                        <a:buSzPct val="100000"/>
                        <a:buFont typeface="Arial" panose="020B0604020202020204" pitchFamily="34" charset="0"/>
                        <a:buChar char="•"/>
                        <a:tabLst/>
                        <a:defRPr/>
                      </a:pPr>
                      <a:r>
                        <a:rPr lang="en-US" sz="900" b="0" i="0" u="none" strike="noStrike" kern="1200" noProof="0">
                          <a:solidFill>
                            <a:srgbClr val="000000"/>
                          </a:solidFill>
                          <a:effectLst/>
                          <a:latin typeface="+mn-lt"/>
                          <a:ea typeface="+mn-ea"/>
                          <a:cs typeface="+mn-cs"/>
                        </a:rPr>
                        <a:t>New KPIs </a:t>
                      </a:r>
                      <a:r>
                        <a:rPr lang="en-US" sz="900" b="0" i="0" u="none" strike="noStrike" kern="1200" noProof="0" err="1">
                          <a:solidFill>
                            <a:srgbClr val="000000"/>
                          </a:solidFill>
                          <a:effectLst/>
                          <a:latin typeface="+mn-lt"/>
                          <a:ea typeface="+mn-ea"/>
                          <a:cs typeface="+mn-cs"/>
                        </a:rPr>
                        <a:t>analysing</a:t>
                      </a:r>
                      <a:r>
                        <a:rPr lang="en-US" sz="900" b="0" i="0" u="none" strike="noStrike" kern="1200" noProof="0">
                          <a:solidFill>
                            <a:srgbClr val="000000"/>
                          </a:solidFill>
                          <a:effectLst/>
                          <a:latin typeface="+mn-lt"/>
                          <a:ea typeface="+mn-ea"/>
                          <a:cs typeface="+mn-cs"/>
                        </a:rPr>
                        <a:t> the density (customers and ACV) per EA are also showing great productivity especially when looking back in the past. This is due to the refined delivery cluster and the AI capabilities highly utilized</a:t>
                      </a:r>
                    </a:p>
                    <a:p>
                      <a:pPr marL="171450" marR="0" lvl="0" indent="-171450" algn="l" defTabSz="1088231" rtl="0" eaLnBrk="1" fontAlgn="base" latinLnBrk="0" hangingPunct="1">
                        <a:lnSpc>
                          <a:spcPct val="100000"/>
                        </a:lnSpc>
                        <a:spcBef>
                          <a:spcPts val="0"/>
                        </a:spcBef>
                        <a:spcAft>
                          <a:spcPct val="0"/>
                        </a:spcAft>
                        <a:buClrTx/>
                        <a:buSzPct val="100000"/>
                        <a:buFont typeface="Arial" panose="020B0604020202020204" pitchFamily="34" charset="0"/>
                        <a:buChar char="•"/>
                        <a:tabLst/>
                        <a:defRPr/>
                      </a:pPr>
                      <a:r>
                        <a:rPr lang="en-US" sz="900" b="0" i="0" u="none" strike="noStrike" kern="1200" noProof="0">
                          <a:solidFill>
                            <a:srgbClr val="000000"/>
                          </a:solidFill>
                          <a:effectLst/>
                          <a:latin typeface="+mn-lt"/>
                          <a:ea typeface="+mn-ea"/>
                          <a:cs typeface="+mn-cs"/>
                        </a:rPr>
                        <a:t>On the learning, globally, the completion % is below target for few reasons: the training has been updated + there are new hires in each region.  In AMER, where we have already had the new bootcamps, the target is achieved.  We have bootcamps planned in the other regions and should achieve target in Q3. </a:t>
                      </a:r>
                      <a:endParaRPr lang="en-US" sz="1000" b="0" i="0" u="none" strike="noStrike" kern="1200" noProof="0">
                        <a:solidFill>
                          <a:srgbClr val="000000"/>
                        </a:solidFill>
                        <a:effectLst/>
                        <a:latin typeface="+mn-lt"/>
                        <a:ea typeface="+mn-ea"/>
                        <a:cs typeface="+mn-cs"/>
                      </a:endParaRPr>
                    </a:p>
                  </a:txBody>
                  <a:tcPr marL="108000" marR="0" marB="0">
                    <a:lnL w="28575" cap="flat" cmpd="sng" algn="ctr">
                      <a:solidFill>
                        <a:schemeClr val="bg1">
                          <a:lumMod val="85000"/>
                        </a:schemeClr>
                      </a:solidFill>
                      <a:prstDash val="solid"/>
                      <a:round/>
                      <a:headEnd type="none" w="med" len="med"/>
                      <a:tailEnd type="none" w="med" len="med"/>
                    </a:lnL>
                    <a:lnR w="31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996263891"/>
                  </a:ext>
                </a:extLst>
              </a:tr>
            </a:tbl>
          </a:graphicData>
        </a:graphic>
      </p:graphicFrame>
      <p:graphicFrame>
        <p:nvGraphicFramePr>
          <p:cNvPr id="11" name="Table 47">
            <a:extLst>
              <a:ext uri="{FF2B5EF4-FFF2-40B4-BE49-F238E27FC236}">
                <a16:creationId xmlns:a16="http://schemas.microsoft.com/office/drawing/2014/main" id="{7A3EE8E5-6629-442E-A691-25ADB74B379E}"/>
              </a:ext>
            </a:extLst>
          </p:cNvPr>
          <p:cNvGraphicFramePr>
            <a:graphicFrameLocks noGrp="1"/>
          </p:cNvGraphicFramePr>
          <p:nvPr/>
        </p:nvGraphicFramePr>
        <p:xfrm>
          <a:off x="506912" y="108127"/>
          <a:ext cx="1552488" cy="228576"/>
        </p:xfrm>
        <a:graphic>
          <a:graphicData uri="http://schemas.openxmlformats.org/drawingml/2006/table">
            <a:tbl>
              <a:tblPr firstRow="1" bandRow="1">
                <a:tableStyleId>{2D5ABB26-0587-4C30-8999-92F81FD0307C}</a:tableStyleId>
              </a:tblPr>
              <a:tblGrid>
                <a:gridCol w="1552488">
                  <a:extLst>
                    <a:ext uri="{9D8B030D-6E8A-4147-A177-3AD203B41FA5}">
                      <a16:colId xmlns:a16="http://schemas.microsoft.com/office/drawing/2014/main" val="3549761308"/>
                    </a:ext>
                  </a:extLst>
                </a:gridCol>
              </a:tblGrid>
              <a:tr h="228540">
                <a:tc>
                  <a:txBody>
                    <a:bodyPr/>
                    <a:lstStyle/>
                    <a:p>
                      <a:pPr algn="ctr"/>
                      <a:r>
                        <a:rPr lang="en-US" sz="900">
                          <a:solidFill>
                            <a:schemeClr val="bg1">
                              <a:lumMod val="50000"/>
                            </a:schemeClr>
                          </a:solidFill>
                        </a:rPr>
                        <a:t>Last Updated: 07/08/2026</a:t>
                      </a:r>
                    </a:p>
                  </a:txBody>
                  <a:tcPr marL="91416" marR="91416" marT="45708" marB="45708"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28525642"/>
                  </a:ext>
                </a:extLst>
              </a:tr>
            </a:tbl>
          </a:graphicData>
        </a:graphic>
      </p:graphicFrame>
      <p:graphicFrame>
        <p:nvGraphicFramePr>
          <p:cNvPr id="14" name="Table 13">
            <a:extLst>
              <a:ext uri="{FF2B5EF4-FFF2-40B4-BE49-F238E27FC236}">
                <a16:creationId xmlns:a16="http://schemas.microsoft.com/office/drawing/2014/main" id="{04927938-48BD-BD1A-D0B9-206C3D5C7CAE}"/>
              </a:ext>
            </a:extLst>
          </p:cNvPr>
          <p:cNvGraphicFramePr>
            <a:graphicFrameLocks noGrp="1"/>
          </p:cNvGraphicFramePr>
          <p:nvPr/>
        </p:nvGraphicFramePr>
        <p:xfrm>
          <a:off x="505458" y="6315710"/>
          <a:ext cx="3987859" cy="129541"/>
        </p:xfrm>
        <a:graphic>
          <a:graphicData uri="http://schemas.openxmlformats.org/drawingml/2006/table">
            <a:tbl>
              <a:tblPr>
                <a:tableStyleId>{5C22544A-7EE6-4342-B048-85BDC9FD1C3A}</a:tableStyleId>
              </a:tblPr>
              <a:tblGrid>
                <a:gridCol w="3987859">
                  <a:extLst>
                    <a:ext uri="{9D8B030D-6E8A-4147-A177-3AD203B41FA5}">
                      <a16:colId xmlns:a16="http://schemas.microsoft.com/office/drawing/2014/main" val="3152104502"/>
                    </a:ext>
                  </a:extLst>
                </a:gridCol>
              </a:tblGrid>
              <a:tr h="129541">
                <a:tc>
                  <a:txBody>
                    <a:bodyPr/>
                    <a:lstStyle/>
                    <a:p>
                      <a:pPr algn="l" fontAlgn="b">
                        <a:buNone/>
                      </a:pPr>
                      <a:r>
                        <a:rPr lang="en-US" sz="800" u="none" strike="noStrike">
                          <a:effectLst/>
                        </a:rPr>
                        <a:t>* Quarterly update of qualitative assessment on global level only</a:t>
                      </a:r>
                      <a:endParaRPr lang="en-US" sz="800" b="0" i="0" u="none" strike="noStrike">
                        <a:solidFill>
                          <a:srgbClr val="000000"/>
                        </a:solidFill>
                        <a:effectLst/>
                        <a:latin typeface="72 Brand" panose="020B0504030603020204" pitchFamily="34" charset="0"/>
                      </a:endParaRPr>
                    </a:p>
                  </a:txBody>
                  <a:tcPr marL="7620" marR="7620" marT="7620" marB="0" anchor="b">
                    <a:noFill/>
                  </a:tcPr>
                </a:tc>
                <a:extLst>
                  <a:ext uri="{0D108BD9-81ED-4DB2-BD59-A6C34878D82A}">
                    <a16:rowId xmlns:a16="http://schemas.microsoft.com/office/drawing/2014/main" val="189102516"/>
                  </a:ext>
                </a:extLst>
              </a:tr>
            </a:tbl>
          </a:graphicData>
        </a:graphic>
      </p:graphicFrame>
      <p:graphicFrame>
        <p:nvGraphicFramePr>
          <p:cNvPr id="2" name="Table 1">
            <a:extLst>
              <a:ext uri="{FF2B5EF4-FFF2-40B4-BE49-F238E27FC236}">
                <a16:creationId xmlns:a16="http://schemas.microsoft.com/office/drawing/2014/main" id="{745749B4-0818-0742-1ADE-4F445B6A67A1}"/>
              </a:ext>
            </a:extLst>
          </p:cNvPr>
          <p:cNvGraphicFramePr>
            <a:graphicFrameLocks noGrp="1"/>
          </p:cNvGraphicFramePr>
          <p:nvPr/>
        </p:nvGraphicFramePr>
        <p:xfrm>
          <a:off x="475375" y="950840"/>
          <a:ext cx="11173470" cy="304800"/>
        </p:xfrm>
        <a:graphic>
          <a:graphicData uri="http://schemas.openxmlformats.org/drawingml/2006/table">
            <a:tbl>
              <a:tblPr firstRow="1" bandRow="1">
                <a:tableStyleId>{5C22544A-7EE6-4342-B048-85BDC9FD1C3A}</a:tableStyleId>
              </a:tblPr>
              <a:tblGrid>
                <a:gridCol w="1117347">
                  <a:extLst>
                    <a:ext uri="{9D8B030D-6E8A-4147-A177-3AD203B41FA5}">
                      <a16:colId xmlns:a16="http://schemas.microsoft.com/office/drawing/2014/main" val="1555634207"/>
                    </a:ext>
                  </a:extLst>
                </a:gridCol>
                <a:gridCol w="1117347">
                  <a:extLst>
                    <a:ext uri="{9D8B030D-6E8A-4147-A177-3AD203B41FA5}">
                      <a16:colId xmlns:a16="http://schemas.microsoft.com/office/drawing/2014/main" val="34182750"/>
                    </a:ext>
                  </a:extLst>
                </a:gridCol>
                <a:gridCol w="1117347">
                  <a:extLst>
                    <a:ext uri="{9D8B030D-6E8A-4147-A177-3AD203B41FA5}">
                      <a16:colId xmlns:a16="http://schemas.microsoft.com/office/drawing/2014/main" val="803998251"/>
                    </a:ext>
                  </a:extLst>
                </a:gridCol>
                <a:gridCol w="1203509">
                  <a:extLst>
                    <a:ext uri="{9D8B030D-6E8A-4147-A177-3AD203B41FA5}">
                      <a16:colId xmlns:a16="http://schemas.microsoft.com/office/drawing/2014/main" val="2248572482"/>
                    </a:ext>
                  </a:extLst>
                </a:gridCol>
                <a:gridCol w="1031185">
                  <a:extLst>
                    <a:ext uri="{9D8B030D-6E8A-4147-A177-3AD203B41FA5}">
                      <a16:colId xmlns:a16="http://schemas.microsoft.com/office/drawing/2014/main" val="340352423"/>
                    </a:ext>
                  </a:extLst>
                </a:gridCol>
                <a:gridCol w="1117347">
                  <a:extLst>
                    <a:ext uri="{9D8B030D-6E8A-4147-A177-3AD203B41FA5}">
                      <a16:colId xmlns:a16="http://schemas.microsoft.com/office/drawing/2014/main" val="4004288427"/>
                    </a:ext>
                  </a:extLst>
                </a:gridCol>
                <a:gridCol w="1117347">
                  <a:extLst>
                    <a:ext uri="{9D8B030D-6E8A-4147-A177-3AD203B41FA5}">
                      <a16:colId xmlns:a16="http://schemas.microsoft.com/office/drawing/2014/main" val="1516235357"/>
                    </a:ext>
                  </a:extLst>
                </a:gridCol>
                <a:gridCol w="1443030">
                  <a:extLst>
                    <a:ext uri="{9D8B030D-6E8A-4147-A177-3AD203B41FA5}">
                      <a16:colId xmlns:a16="http://schemas.microsoft.com/office/drawing/2014/main" val="1835858847"/>
                    </a:ext>
                  </a:extLst>
                </a:gridCol>
                <a:gridCol w="880024">
                  <a:extLst>
                    <a:ext uri="{9D8B030D-6E8A-4147-A177-3AD203B41FA5}">
                      <a16:colId xmlns:a16="http://schemas.microsoft.com/office/drawing/2014/main" val="635713641"/>
                    </a:ext>
                  </a:extLst>
                </a:gridCol>
                <a:gridCol w="1028987">
                  <a:extLst>
                    <a:ext uri="{9D8B030D-6E8A-4147-A177-3AD203B41FA5}">
                      <a16:colId xmlns:a16="http://schemas.microsoft.com/office/drawing/2014/main" val="699600814"/>
                    </a:ext>
                  </a:extLst>
                </a:gridCol>
              </a:tblGrid>
              <a:tr h="243753">
                <a:tc>
                  <a:txBody>
                    <a:bodyPr/>
                    <a:lstStyle/>
                    <a:p>
                      <a:r>
                        <a:rPr lang="en-US" sz="1000" b="1">
                          <a:solidFill>
                            <a:schemeClr val="bg1"/>
                          </a:solidFill>
                          <a:latin typeface="72 Brand" panose="020B0504030603020204" pitchFamily="34" charset="0"/>
                        </a:rPr>
                        <a:t>Global Role Sponsor</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r>
                        <a:rPr lang="de-DE" sz="1000" b="0" i="0" u="none" strike="noStrike">
                          <a:solidFill>
                            <a:srgbClr val="000000"/>
                          </a:solidFill>
                          <a:effectLst/>
                          <a:latin typeface="72 Brand" panose="020B0504030603020204" pitchFamily="34" charset="0"/>
                        </a:rPr>
                        <a:t>Thomas </a:t>
                      </a:r>
                      <a:r>
                        <a:rPr lang="de-DE" sz="1000" b="0" i="0" u="none" strike="noStrike" err="1">
                          <a:solidFill>
                            <a:srgbClr val="000000"/>
                          </a:solidFill>
                          <a:effectLst/>
                          <a:latin typeface="72 Brand" panose="020B0504030603020204" pitchFamily="34" charset="0"/>
                        </a:rPr>
                        <a:t>Pfiester</a:t>
                      </a:r>
                      <a:r>
                        <a:rPr lang="de-DE" sz="1000" b="0" i="0" u="none" strike="noStrike">
                          <a:solidFill>
                            <a:srgbClr val="000000"/>
                          </a:solidFill>
                          <a:effectLst/>
                          <a:latin typeface="72 Brand" panose="020B0504030603020204" pitchFamily="34" charset="0"/>
                        </a:rPr>
                        <a:t> (Stephan Klein)</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72 Brand" panose="020B0504030603020204" pitchFamily="34" charset="0"/>
                        </a:rPr>
                        <a:t>Global </a:t>
                      </a:r>
                      <a:r>
                        <a:rPr lang="en-US" sz="1000" b="1" kern="1200">
                          <a:solidFill>
                            <a:schemeClr val="bg1"/>
                          </a:solidFill>
                          <a:latin typeface="72 Brand" panose="020B0504030603020204" pitchFamily="34" charset="0"/>
                          <a:ea typeface="+mn-ea"/>
                          <a:cs typeface="+mn-cs"/>
                        </a:rPr>
                        <a:t>Role Owner</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buNone/>
                      </a:pPr>
                      <a:r>
                        <a:rPr lang="de-DE" sz="1000" b="0" i="0" u="none" strike="noStrike">
                          <a:solidFill>
                            <a:srgbClr val="000000"/>
                          </a:solidFill>
                          <a:effectLst/>
                          <a:latin typeface="72 Brand" panose="020B0504030603020204" pitchFamily="34" charset="0"/>
                        </a:rPr>
                        <a:t>Alessandro Monaco</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1088231"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72 Brand" panose="020B0504030603020204" pitchFamily="34" charset="0"/>
                          <a:ea typeface="+mn-ea"/>
                          <a:cs typeface="+mn-cs"/>
                        </a:rPr>
                        <a:t>APAC Role Leader</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buNone/>
                      </a:pPr>
                      <a:r>
                        <a:rPr lang="de-DE" sz="1000" b="0" i="0" u="none" strike="noStrike">
                          <a:solidFill>
                            <a:srgbClr val="000000"/>
                          </a:solidFill>
                          <a:effectLst/>
                          <a:latin typeface="72 Brand" panose="020B0504030603020204" pitchFamily="34" charset="0"/>
                        </a:rPr>
                        <a:t>Alex Aitken</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000" b="1">
                          <a:solidFill>
                            <a:schemeClr val="bg1"/>
                          </a:solidFill>
                          <a:latin typeface="72 Brand" panose="020B0504030603020204" pitchFamily="34" charset="0"/>
                        </a:rPr>
                        <a:t>APAC Role SPOC / DRI</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algn="l" fontAlgn="ctr"/>
                      <a:r>
                        <a:rPr lang="de-DE" sz="1000" b="0" i="0" u="none" strike="noStrike">
                          <a:solidFill>
                            <a:schemeClr val="tx1"/>
                          </a:solidFill>
                          <a:effectLst/>
                          <a:latin typeface="72 Brand" panose="020B0504030603020204" pitchFamily="34" charset="0"/>
                        </a:rPr>
                        <a:t>Venky (Venkateswaran) Viswanathan</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l" fontAlgn="ctr"/>
                      <a:r>
                        <a:rPr lang="de-DE" sz="1000" b="1" i="0" u="none" strike="noStrike">
                          <a:solidFill>
                            <a:schemeClr val="bg1"/>
                          </a:solidFill>
                          <a:effectLst/>
                          <a:latin typeface="72 Brand" panose="020B0504030603020204" pitchFamily="34" charset="0"/>
                        </a:rPr>
                        <a:t>Regional Status</a:t>
                      </a: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1B90FF"/>
                    </a:solidFill>
                  </a:tcPr>
                </a:tc>
                <a:tc>
                  <a:txBody>
                    <a:bodyPr/>
                    <a:lstStyle/>
                    <a:p>
                      <a:pPr algn="ctr" fontAlgn="ctr"/>
                      <a:r>
                        <a:rPr lang="en-US" sz="1400" b="0" i="0" u="none" strike="noStrike" kern="1200">
                          <a:solidFill>
                            <a:srgbClr val="FFC000"/>
                          </a:solidFill>
                          <a:effectLst/>
                          <a:latin typeface="+mn-lt"/>
                          <a:ea typeface="+mn-ea"/>
                          <a:cs typeface="+mn-cs"/>
                        </a:rPr>
                        <a:t>⬤</a:t>
                      </a:r>
                      <a:r>
                        <a:rPr lang="en-US" sz="1400" b="1" i="0" kern="1200">
                          <a:solidFill>
                            <a:srgbClr val="FFC000"/>
                          </a:solidFill>
                          <a:effectLst/>
                          <a:latin typeface="+mn-lt"/>
                          <a:ea typeface="+mn-ea"/>
                          <a:cs typeface="+mn-cs"/>
                        </a:rPr>
                        <a:t>​</a:t>
                      </a:r>
                      <a:endParaRPr lang="de-DE" sz="600" b="0" i="0" u="none" strike="noStrike">
                        <a:solidFill>
                          <a:srgbClr val="FFC000"/>
                        </a:solidFill>
                        <a:effectLst/>
                        <a:latin typeface="72 Brand" panose="020B0504030603020204" pitchFamily="34" charset="0"/>
                      </a:endParaRPr>
                    </a:p>
                  </a:txBody>
                  <a:tcPr marL="35991" marR="3599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3726138"/>
                  </a:ext>
                </a:extLst>
              </a:tr>
            </a:tbl>
          </a:graphicData>
        </a:graphic>
      </p:graphicFrame>
      <p:sp>
        <p:nvSpPr>
          <p:cNvPr id="5" name="TextBox 4">
            <a:extLst>
              <a:ext uri="{FF2B5EF4-FFF2-40B4-BE49-F238E27FC236}">
                <a16:creationId xmlns:a16="http://schemas.microsoft.com/office/drawing/2014/main" id="{A13DA0F2-6226-AD7A-20B0-CE2F5585D9D2}"/>
              </a:ext>
            </a:extLst>
          </p:cNvPr>
          <p:cNvSpPr txBox="1"/>
          <p:nvPr/>
        </p:nvSpPr>
        <p:spPr>
          <a:xfrm>
            <a:off x="7811639" y="108128"/>
            <a:ext cx="2420286" cy="323165"/>
          </a:xfrm>
          <a:prstGeom prst="rect">
            <a:avLst/>
          </a:prstGeom>
          <a:solidFill>
            <a:srgbClr val="FFC000"/>
          </a:solidFill>
          <a:ln>
            <a:solidFill>
              <a:schemeClr val="bg1"/>
            </a:solidFill>
          </a:ln>
        </p:spPr>
        <p:txBody>
          <a:bodyPr wrap="square" lIns="0" tIns="0" rIns="0" bIns="0" rtlCol="0">
            <a:spAutoFit/>
          </a:bodyPr>
          <a:lstStyle/>
          <a:p>
            <a:pPr algn="l" fontAlgn="base">
              <a:spcBef>
                <a:spcPct val="50000"/>
              </a:spcBef>
              <a:spcAft>
                <a:spcPct val="0"/>
              </a:spcAft>
              <a:buClr>
                <a:srgbClr val="F0AB00"/>
              </a:buClr>
              <a:buSzPct val="80000"/>
            </a:pPr>
            <a:r>
              <a:rPr lang="en-US" kern="0">
                <a:solidFill>
                  <a:schemeClr val="bg1"/>
                </a:solidFill>
                <a:latin typeface="72 Brand" panose="020B0504030603020204" pitchFamily="34" charset="0"/>
                <a:ea typeface="Arial Unicode MS" pitchFamily="34" charset="-128"/>
                <a:cs typeface="Arial Unicode MS" pitchFamily="34" charset="-128"/>
              </a:rPr>
              <a:t>Alex Aitken / Cathy </a:t>
            </a:r>
            <a:endParaRPr lang="en-US" sz="1800" kern="0">
              <a:solidFill>
                <a:schemeClr val="bg1"/>
              </a:solidFill>
              <a:latin typeface="72 Brand" panose="020B0504030603020204"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29763883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 Template 2023">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äsentation2" id="{B44FA898-7065-C140-B2C5-C93FD2EC289B}" vid="{E4A21F8A-B61B-F245-8125-6893948E4DD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item1.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2.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3.xml><?xml version="1.0" encoding="utf-8"?>
<TemplafySlideTemplateConfiguration><![CDATA[{"slideVersion":1,"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White}}","visibility":"","type":"image","disableUpdates":false}},{"type":"shape","elementConfiguration":{"binding":"{{Form.Classification.Display}}","visibility":"","type":"text","disableUpdates":false}}],"slideId":"638331234102692406","enableDocumentContentUpdater":false,"version":"2.0"}]]></TemplafySlideTemplateConfiguration>
</file>

<file path=customXml/item4.xml><?xml version="1.0" encoding="utf-8"?>
<TemplafySlideTemplateConfiguration><![CDATA[{"slideVersion":1,"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White}}","visibility":"","type":"image","disableUpdates":false}},{"type":"shape","elementConfiguration":{"binding":"{{Form.Classification.Display}}","visibility":"","type":"text","disableUpdates":false}}],"slideId":"638331234102776925","enableDocumentContentUpdater":false,"version":"2.0"}]]></TemplafySlideTemplateConfiguration>
</file>

<file path=customXml/item5.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6.xml><?xml version="1.0" encoding="utf-8"?>
<TemplafySlideTemplateConfiguration><![CDATA[{"slideVersion":1,"isValidatorEnabled":false,"isLocked":false,"elementsMetadata":[{"type":"shape","elementConfiguration":{"binding":"{{StringJoin(\", \", Form.SpeakerName,\"SAP\")}}","type":"text","disableUpdates":false}},{"type":"shape","elementConfiguration":{"binding":"{{FormatDateTime(Form.Date,\"MMMM dd, yyyy\",\"en-US\")}}","type":"text","disableUpdates":false}},{"type":"shape","elementConfiguration":{"binding":"{{Form.Classification.Display}}","visibility":"","type":"text","disableUpdates":false}},{"type":"shape","elementConfiguration":{"inheritDimensions":"{{InheritDimensions.InheritNone}}","width":"","height":"1 cm","image":"{{Form.SAPLogo.SubbrandBlack}}","visibility":"","type":"image","disableUpdates":false}}],"slideId":"638331234102547405","enableDocumentContentUpdater":false,"version":"2.0"}]]></TemplafySlideTemplateConfiguration>
</file>

<file path=customXml/item7.xml><?xml version="1.0" encoding="utf-8"?>
<?mso-contentType ?>
<FormTemplates xmlns="http://schemas.microsoft.com/sharepoint/v3/contenttype/forms">
  <Display>DocumentLibraryForm</Display>
  <Edit>DocumentLibraryForm</Edit>
  <New>DocumentLibraryForm</New>
</FormTemplates>
</file>

<file path=customXml/item8.xml><?xml version="1.0" encoding="utf-8"?>
<ct:contentTypeSchema xmlns:ct="http://schemas.microsoft.com/office/2006/metadata/contentType" xmlns:ma="http://schemas.microsoft.com/office/2006/metadata/properties/metaAttributes" ct:_="" ma:_="" ma:contentTypeName="Document" ma:contentTypeID="0x010100AC4034B036C92A4A897F8A958DF51533" ma:contentTypeVersion="17" ma:contentTypeDescription="Create a new document." ma:contentTypeScope="" ma:versionID="9881b54d8c9689fbb993a4f7983e18ad">
  <xsd:schema xmlns:xsd="http://www.w3.org/2001/XMLSchema" xmlns:xs="http://www.w3.org/2001/XMLSchema" xmlns:p="http://schemas.microsoft.com/office/2006/metadata/properties" xmlns:ns2="779f7773-5b16-460b-be9a-e10be11b395c" xmlns:ns3="0e00d59e-b0d2-4e67-be34-67e465b0fbed" targetNamespace="http://schemas.microsoft.com/office/2006/metadata/properties" ma:root="true" ma:fieldsID="5587fbb7edc3a1e656e5ced3cd51c8e4" ns2:_="" ns3:_="">
    <xsd:import namespace="779f7773-5b16-460b-be9a-e10be11b395c"/>
    <xsd:import namespace="0e00d59e-b0d2-4e67-be34-67e465b0fbe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DateTaken" minOccurs="0"/>
                <xsd:element ref="ns2:MediaServiceOCR"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9f7773-5b16-460b-be9a-e10be11b39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00d59e-b0d2-4e67-be34-67e465b0fbe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f1e2fc8-60f5-4b88-a701-67d77da430d9}" ma:internalName="TaxCatchAll" ma:showField="CatchAllData" ma:web="0e00d59e-b0d2-4e67-be34-67e465b0fb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TemplafySlideTemplateConfiguration><![CDATA[{"slideVersion":1,"isValidatorEnabled":false,"isLocked":false,"elementsMetadata":[],"slideId":"638331234103040955","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SlideFormConfiguration><![CDATA[{"formFields":[{"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Email}}","shareValue":false,"type":"textBox","name":"Email","label":"Email"}],"formDataEntries":[]}]]></TemplafySlideFormConfiguration>
</file>

<file path=customXml/item13.xml><?xml version="1.0" encoding="utf-8"?>
<TemplafySlideTemplateConfiguration><![CDATA[{"slideVersion":1,"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White}}","visibility":"","type":"image","disableUpdates":false}},{"type":"shape","elementConfiguration":{"binding":"{{Form.Classification.Display}}","visibility":"","type":"text","disableUpdates":false}}],"slideId":"638331234102430701","enableDocumentContentUpdater":false,"version":"2.0"}]]></TemplafySlideTemplateConfiguration>
</file>

<file path=customXml/item14.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15.xml><?xml version="1.0" encoding="utf-8"?>
<TemplafySlideTemplateConfiguration><![CDATA[{"slideVersion":1,"isValidatorEnabled":false,"isLocked":false,"elementsMetadata":[{"type":"shape","elementConfiguration":{"binding":"{{Form.SpeakerName}}","type":"text","disableUpdates":false}},{"type":"shape","elementConfiguration":{"binding":"{{Form.Email}}","type":"text","disableUpdates":false}},{"type":"shape","elementConfiguration":{"binding":"{{DataSources.PPTCopyRight[\"Slide 5 copyright\"].CopyrightMessage}}","visibility":"","type":"text","disableUpdates":false}}],"slideId":"638331234103056874","enableDocumentContentUpdater":false,"version":"2.0"}]]></TemplafySlideTemplateConfiguration>
</file>

<file path=customXml/item16.xml><?xml version="1.0" encoding="utf-8"?>
<TemplafySlideTemplateConfiguration><![CDATA[{"slideVersion":1,"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Blue}}","visibility":"","type":"image","disableUpdates":false}},{"type":"shape","elementConfiguration":{"binding":"{{Form.Classification.Display}}","visibility":"","type":"text","disableUpdates":false}}],"slideId":"638331234101560684","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TemplafyTemplateConfiguration><![CDATA[{"elementsMetadata":[{"type":"shape","id":"1df0b5c3-c399-4d80-afa5-baa0f5e07b52","elementConfiguration":{"binding":"{{ DataSources.Classification[Form.Classification.Name].Display}}","type":"text","disableUpdates":false}},{"type":"shape","id":"4730df89-118a-4dac-850a-22582fba25ef","elementConfiguration":{"inheritDimensions":"{{InheritDimensions.InheritNone}}","width":"","height":"1 cm","image":"{{Form.SAPLogo.SubbrandBlue}}","visibility":"","type":"image","disableUpdates":false}},{"type":"shape","id":"3b3005ec-996c-4d76-a358-795127b0f977","elementConfiguration":{"binding":"{{Form.Classification.Display}}","visibility":"","type":"text","disableUpdates":false}},{"type":"shape","id":"4fb6f5d1-82cd-4ab1-ae44-7e64d037ef1d","elementConfiguration":{"binding":"{{Form.Classification.Display}}","visibility":"","type":"text","disableUpdates":false}},{"type":"shape","id":"6e8f8d3c-486c-440f-9e89-010c51d1337f","elementConfiguration":{"inheritDimensions":"{{InheritDimensions.InheritNone}}","width":"","height":"1 cm","image":"{{Form.SAPLogo.SubbrandBlack}}","visibility":"","type":"image","disableUpdates":false}},{"type":"shape","id":"c91d4f96-eb02-4c57-a0e1-338790f88ede","elementConfiguration":{"inheritDimensions":"{{InheritDimensions.InheritNone}}","width":"","height":"1 cm","image":"{{Form.SAPLogo.SubbrandWhite}}","visibility":"","type":"image","disableUpdates":false}},{"type":"shape","id":"54a69f23-ff76-4f65-96bb-a6bf00e9647f","elementConfiguration":{"binding":"{{Form.Classification.Display}}","visibility":"","type":"text","disableUpdates":false}},{"type":"shape","id":"6c7bdae5-f4a4-41ef-bce1-a9de047427a3","elementConfiguration":{"inheritDimensions":"{{InheritDimensions.InheritNone}}","width":"","height":"1 cm","image":"{{Form.SAPLogo.SubbrandBlue}}","visibility":"","type":"image","disableUpdates":false}},{"type":"shape","id":"31826e07-6bd8-46cf-99a6-aba87324adbb","elementConfiguration":{"binding":"{{Form.Classification.Display}}","visibility":"","type":"text","disableUpdates":false}},{"type":"shape","id":"f232a519-5ff6-4053-bb5b-b23e1adaee18","elementConfiguration":{"inheritDimensions":"{{InheritDimensions.InheritNone}}","width":"","height":"1 cm","image":"{{Form.SAPLogo.SubbrandBlue}}","visibility":"","type":"image","disableUpdates":false}},{"type":"shape","id":"27682cf1-0696-470f-9efa-616f4870e8a0","elementConfiguration":{"binding":"{{Form.Classification.Display}}","visibility":"","type":"text","disableUpdates":false}},{"type":"shape","id":"e60c395f-8fa7-41cf-b146-37c7272e7cfb","elementConfiguration":{"inheritDimensions":"{{InheritDimensions.InheritNone}}","width":"","height":"1 cm","image":"{{Form.SAPLogo.SubbrandBlue}}","visibility":"","type":"image","disableUpdates":false}},{"type":"shape","id":"55d87788-2e60-4526-97e4-cc625eeee8de","elementConfiguration":{"binding":"{{Form.Classification.Display}}","visibility":"","type":"text","disableUpdates":false}},{"type":"shape","id":"bbbbfe71-eb37-4ff2-9c3b-eb5f58cbcbf4","elementConfiguration":{"inheritDimensions":"{{InheritDimensions.InheritNone}}","width":"","height":"1 cm","image":"{{Form.SAPLogo.SubbrandWhite}}","visibility":"","type":"image","disableUpdates":false}},{"type":"shape","id":"fb8eac9c-b638-44dd-a22a-7637e30f5e37","elementConfiguration":{"binding":"{{Form.Classification.Display}}","visibility":"","type":"text","disableUpdates":false}},{"type":"shape","id":"eb9adf6b-a999-43b4-87a5-c81e58f16e94","elementConfiguration":{"binding":"{{DataSources.PPTCopyRight[\"Slide 5 copyright\"].CopyrightMessage}}","visibility":"","type":"text","disableUpdates":false}},{"type":"shape","id":"e1ce98cc-b5e7-4d57-bbf2-b85890640f17","elementConfiguration":{"inheritDimensions":"{{InheritDimensions.InheritNone}}","width":"","height":"1 cm","image":"{{Form.SAPLogo.SubbrandBlack}}","visibility":"","type":"image","disableUpdates":false}},{"type":"shape","id":"e21c6111-be2c-44a0-a2aa-df88facd3edb","elementConfiguration":{"binding":"{{Form.Classification.Display}}","visibility":"","type":"text","disableUpdates":false}},{"type":"shape","id":"2de5be2a-d3c3-4ddf-bfce-d8d47df28dbb","elementConfiguration":{"inheritDimensions":"{{InheritDimensions.InheritNone}}","width":"","height":"1 cm","image":"{{Form.SAPLogo.SubbrandWhite}}","visibility":"","type":"image","disableUpdates":false}},{"type":"shape","id":"ae7c7b96-b70f-4e7a-b733-583422dd9c67","elementConfiguration":{"binding":"{{Form.Classification.Display}}","visibility":"","type":"text","disableUpdates":false}},{"type":"shape","id":"c1eb01f2-9e1f-430d-b8b5-2c5ca45c20b6","elementConfiguration":{"inheritDimensions":"{{InheritDimensions.InheritNone}}","width":"","height":"1 cm","image":"{{Form.SAPLogo.SubbrandBlack}}","visibility":"","type":"image","disableUpdates":false}},{"type":"shape","id":"790acb4e-ca71-45a1-a6aa-15bb3a352e16","elementConfiguration":{"binding":"{{Form.Classification.Display}}","visibility":"","type":"text","disableUpdates":false}},{"type":"shape","id":"2fc7f057-0369-4ed6-8a09-948d28d95ffb","elementConfiguration":{"inheritDimensions":"{{InheritDimensions.InheritNone}}","width":"","height":"1 cm","image":"{{Form.SAPLogo.SubbrandWhite}}","visibility":"","type":"image","disableUpdates":false}},{"type":"shape","id":"9c26c798-5a7f-4e71-a771-0737e45e4efe","elementConfiguration":{"binding":"{{Form.Classification.Display}}","visibility":"","type":"text","disableUpdates":false}},{"type":"shape","id":"1c29bb78-5811-4cd4-811f-7882c0a69982","elementConfiguration":{"inheritDimensions":"{{InheritDimensions.InheritNone}}","width":"","height":"1 cm","image":"{{Form.SAPLogo.SubbrandWhite}}","visibility":"","type":"image","disableUpdates":false}},{"type":"shape","id":"58f345ad-7bdb-419e-8713-85ce06a158f4","elementConfiguration":{"binding":"{{Form.Classification.Display}}","visibility":"","type":"text","disableUpdates":false}},{"type":"shape","id":"3fa50bdb-3142-405e-880c-0380db712567","elementConfiguration":{"binding":"{{StringJoin(\", \", Form.SpeakerName,\"SAP\")}}","type":"text","disableUpdates":false}},{"type":"shape","id":"7ba1bdc3-6de1-4200-a6e0-b1800360e955","elementConfiguration":{"binding":"{{FormatDateTime(Form.Date,\"MMMM dd, yyyy\",\"en-US\")}}","type":"text","disableUpdates":false}},{"type":"shape","id":"038d2caa-100a-48e2-a85a-ae9df4466d25","elementConfiguration":{"binding":"{{StringJoin(\", \", Form.SpeakerName,\"SAP\")}}","type":"text","disableUpdates":false}},{"type":"shape","id":"06373794-4453-4ce4-8a0f-1e74545fdebf","elementConfiguration":{"binding":"{{FormatDateTime(Form.Date,\"MMMM dd, yyyy\",\"en-US\")}}","type":"text","disableUpdates":false}},{"type":"shape","id":"17da9310-e182-49c8-9e08-07dbe704575b","elementConfiguration":{"binding":"{{Form.SpeakerName}}","type":"text","disableUpdates":false}},{"type":"shape","id":"a5258a79-f3e0-48a9-bce0-c4a339708677","elementConfiguration":{"binding":"{{Form.Email}}","type":"text","disableUpdates":false}},{"type":"shape","id":"00227b4d-4db8-4a4b-b540-7d73284d492e","elementConfiguration":{"binding":"{{StringJoin(\", \", Form.SpeakerName,\"SAP\")}}","type":"text","disableUpdates":false}},{"type":"shape","id":"f246cb59-7dc1-4e47-aa19-199113a496ad","elementConfiguration":{"binding":"{{FormatDateTime(Form.Date,\"MMMM dd, yyyy\",\"en-US\")}}","type":"text","disableUpdates":false}},{"type":"shape","id":"b3642e98-d784-4710-b703-2415031999c0","elementConfiguration":{"binding":"{{StringJoin(\", \", Form.SpeakerName,\"SAP\")}}","type":"text","disableUpdates":false}},{"type":"shape","id":"b1649ea4-f984-49ae-a3a1-5e732da06700","elementConfiguration":{"binding":"{{FormatDateTime(Form.Date,\"MMMM dd, yyyy\",\"en-US\")}}","type":"text","disableUpdates":false}},{"type":"shape","id":"817f2cac-476f-4f09-9a5b-f65cb78c8457","elementConfiguration":{"binding":"{{StringJoin(\", \", Form.SpeakerName,\"SAP\")}}","type":"text","disableUpdates":false}},{"type":"shape","id":"378927af-789e-478a-98db-01e3a717f61a","elementConfiguration":{"binding":"{{FormatDateTime(Form.Date,\"MMMM dd, yyyy\",\"en-US\")}}","type":"text","disableUpdates":false}},{"type":"shape","id":"f623d31c-4198-4495-bf52-bf36155f6b34","elementConfiguration":{"binding":"{{StringJoin(\", \", Form.SpeakerName,\"SAP\")}}","type":"text","disableUpdates":false}},{"type":"shape","id":"da33ba28-87ff-4f5f-b399-aa059e6b787a","elementConfiguration":{"binding":"{{FormatDateTime(Form.Date,\"MMMM dd, yyyy\",\"en-US\")}}","type":"text","disableUpdates":false}}],"transformationConfigurations":[],"templateName":"SAP Template NEW","templateDescription":"","enableDocumentContentUpdater":true,"version":"2.0"}]]></TemplafyTemplateConfiguration>
</file>

<file path=customXml/item19.xml><?xml version="1.0" encoding="utf-8"?>
<TemplafySlideTemplateConfiguration><![CDATA[{"slideVersion":1,"isValidatorEnabled":false,"isLocked":false,"elementsMetadata":[],"slideId":"638331234102931200","enableDocumentContentUpdater":false,"version":"2.0"}]]></TemplafySlideTemplateConfiguration>
</file>

<file path=customXml/item20.xml><?xml version="1.0" encoding="utf-8"?>
<TemplafySlideTemplateConfiguration><![CDATA[{"slideVersion":1,"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Blue}}","visibility":"","type":"image","disableUpdates":false}},{"type":"shape","elementConfiguration":{"binding":"{{Form.Classification.Display}}","visibility":"","type":"text","disableUpdates":false}}],"slideId":"638331234102843511","enableDocumentContentUpdater":false,"version":"2.0"}]]></TemplafySlideTemplateConfiguration>
</file>

<file path=customXml/item21.xml><?xml version="1.0" encoding="utf-8"?>
<TemplafySlideTemplateConfiguration><![CDATA[{"slideVersion":1,"isValidatorEnabled":false,"isLocked":false,"elementsMetadata":[],"slideId":"638331234103099669","enableDocumentContentUpdater":false,"version":"2.0"}]]></TemplafySlideTemplateConfiguration>
</file>

<file path=customXml/item22.xml><?xml version="1.0" encoding="utf-8"?>
<Templafy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Email}}","shareValue":false,"type":"textBox","name":"Email","label":"Email"}],"formDataEntries":[{"name":"SAPLogo","value":"pxB0tb4qiCEYCgGk2fAV86fXsKRk9ZMKiRC3VaLJ5C8="},{"name":"Classification","value":"OmrOP8d402txjl1Zr787gUA6bTWeMdaxGEF9U5BKD64="},{"name":"SpeakerName","value":"YnPwfaWtJd9yqRikMcavEg=="},{"name":"Email","value":"v35+JSpO6F5yjM5PrFdVwQ=="}]}]]></TemplafyFormConfiguration>
</file>

<file path=customXml/item23.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24.xml><?xml version="1.0" encoding="utf-8"?>
<p:properties xmlns:p="http://schemas.microsoft.com/office/2006/metadata/properties" xmlns:xsi="http://www.w3.org/2001/XMLSchema-instance" xmlns:pc="http://schemas.microsoft.com/office/infopath/2007/PartnerControls">
  <documentManagement>
    <lcf76f155ced4ddcb4097134ff3c332f xmlns="779f7773-5b16-460b-be9a-e10be11b395c">
      <Terms xmlns="http://schemas.microsoft.com/office/infopath/2007/PartnerControls"/>
    </lcf76f155ced4ddcb4097134ff3c332f>
    <TaxCatchAll xmlns="0e00d59e-b0d2-4e67-be34-67e465b0fbed" xsi:nil="true"/>
  </documentManagement>
</p:properties>
</file>

<file path=customXml/item25.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26.xml><?xml version="1.0" encoding="utf-8"?>
<TemplafySlideTemplateConfiguration><![CDATA[{"slideVersion":1,"isValidatorEnabled":false,"isLocked":false,"elementsMetadata":[],"slideId":"638331234102899225","enableDocumentContentUpdater":false,"version":"2.0"}]]></TemplafySlideTemplateConfiguration>
</file>

<file path=customXml/item27.xml><?xml version="1.0" encoding="utf-8"?>
<TemplafySlideFormConfiguration><![CDATA[{"formFields":[],"formDataEntries":[]}]]></TemplafySlideFormConfiguration>
</file>

<file path=customXml/itemProps1.xml><?xml version="1.0" encoding="utf-8"?>
<ds:datastoreItem xmlns:ds="http://schemas.openxmlformats.org/officeDocument/2006/customXml" ds:itemID="{034DD3E1-2858-4C70-BC3A-61FB10763B47}">
  <ds:schemaRefs/>
</ds:datastoreItem>
</file>

<file path=customXml/itemProps2.xml><?xml version="1.0" encoding="utf-8"?>
<ds:datastoreItem xmlns:ds="http://schemas.openxmlformats.org/officeDocument/2006/customXml" ds:itemID="{77EBBC25-7217-6047-A6FE-6E3834623618}">
  <ds:schemaRefs/>
</ds:datastoreItem>
</file>

<file path=customXml/itemProps3.xml><?xml version="1.0" encoding="utf-8"?>
<ds:datastoreItem xmlns:ds="http://schemas.openxmlformats.org/officeDocument/2006/customXml" ds:itemID="{E592BBB8-4E80-3C45-BEE9-486ED596EB3C}">
  <ds:schemaRefs/>
</ds:datastoreItem>
</file>

<file path=customXml/itemProps4.xml><?xml version="1.0" encoding="utf-8"?>
<ds:datastoreItem xmlns:ds="http://schemas.openxmlformats.org/officeDocument/2006/customXml" ds:itemID="{BE35CB75-D316-A442-AF6F-E30B686305AD}">
  <ds:schemaRefs/>
</ds:datastoreItem>
</file>

<file path=customXml/itemProps5.xml><?xml version="1.0" encoding="utf-8"?>
<ds:datastoreItem xmlns:ds="http://schemas.openxmlformats.org/officeDocument/2006/customXml" ds:itemID="{118DC9FA-6E7A-134A-A4CB-DB7E25529BCD}">
  <ds:schemaRefs/>
</ds:datastoreItem>
</file>

<file path=customXml/itemProps6.xml><?xml version="1.0" encoding="utf-8"?>
<ds:datastoreItem xmlns:ds="http://schemas.openxmlformats.org/officeDocument/2006/customXml" ds:itemID="{3B62FFE9-ED73-4F57-B7FD-1898883AC30C}">
  <ds:schemaRefs/>
</ds:datastoreItem>
</file>

<file path=customXml/itemProps7.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8.xml><?xml version="1.0" encoding="utf-8"?>
<ds:datastoreItem xmlns:ds="http://schemas.openxmlformats.org/officeDocument/2006/customXml" ds:itemID="{74942575-2ABC-47D8-9C97-7AE8518FFE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9f7773-5b16-460b-be9a-e10be11b395c"/>
    <ds:schemaRef ds:uri="0e00d59e-b0d2-4e67-be34-67e465b0fb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FB3CBE98-0F50-4DCC-AB6D-9CE0DBAA75FF}">
  <ds:schemaRefs/>
</ds:datastoreItem>
</file>

<file path=customXml/itemProps10.xml><?xml version="1.0" encoding="utf-8"?>
<ds:datastoreItem xmlns:ds="http://schemas.openxmlformats.org/officeDocument/2006/customXml" ds:itemID="{8D60027D-B63E-433E-BB56-64F598DA4B11}">
  <ds:schemaRefs/>
</ds:datastoreItem>
</file>

<file path=customXml/itemProps11.xml><?xml version="1.0" encoding="utf-8"?>
<ds:datastoreItem xmlns:ds="http://schemas.openxmlformats.org/officeDocument/2006/customXml" ds:itemID="{32B4CE40-A540-46F0-A4B7-2503498DD8B0}">
  <ds:schemaRefs/>
</ds:datastoreItem>
</file>

<file path=customXml/itemProps12.xml><?xml version="1.0" encoding="utf-8"?>
<ds:datastoreItem xmlns:ds="http://schemas.openxmlformats.org/officeDocument/2006/customXml" ds:itemID="{47869D81-24A3-1649-A7BC-E604AE89024C}">
  <ds:schemaRefs/>
</ds:datastoreItem>
</file>

<file path=customXml/itemProps13.xml><?xml version="1.0" encoding="utf-8"?>
<ds:datastoreItem xmlns:ds="http://schemas.openxmlformats.org/officeDocument/2006/customXml" ds:itemID="{FB378D73-682D-4B5C-B045-A467836EDC7E}">
  <ds:schemaRefs/>
</ds:datastoreItem>
</file>

<file path=customXml/itemProps14.xml><?xml version="1.0" encoding="utf-8"?>
<ds:datastoreItem xmlns:ds="http://schemas.openxmlformats.org/officeDocument/2006/customXml" ds:itemID="{5E726EAB-FE30-4F4D-A478-DE4759D9A12E}">
  <ds:schemaRefs/>
</ds:datastoreItem>
</file>

<file path=customXml/itemProps15.xml><?xml version="1.0" encoding="utf-8"?>
<ds:datastoreItem xmlns:ds="http://schemas.openxmlformats.org/officeDocument/2006/customXml" ds:itemID="{3E4381A6-8E2C-574D-B48E-536A53B18F66}">
  <ds:schemaRefs/>
</ds:datastoreItem>
</file>

<file path=customXml/itemProps16.xml><?xml version="1.0" encoding="utf-8"?>
<ds:datastoreItem xmlns:ds="http://schemas.openxmlformats.org/officeDocument/2006/customXml" ds:itemID="{F444086E-23D4-43AE-9B84-AA7543534A61}">
  <ds:schemaRefs/>
</ds:datastoreItem>
</file>

<file path=customXml/itemProps17.xml><?xml version="1.0" encoding="utf-8"?>
<ds:datastoreItem xmlns:ds="http://schemas.openxmlformats.org/officeDocument/2006/customXml" ds:itemID="{A3EC6DE2-FD66-684A-AC9E-08E25388DBEF}">
  <ds:schemaRefs/>
</ds:datastoreItem>
</file>

<file path=customXml/itemProps18.xml><?xml version="1.0" encoding="utf-8"?>
<ds:datastoreItem xmlns:ds="http://schemas.openxmlformats.org/officeDocument/2006/customXml" ds:itemID="{626BBCBB-1894-4E66-BA48-9E91CE3ACBA0}">
  <ds:schemaRefs/>
</ds:datastoreItem>
</file>

<file path=customXml/itemProps19.xml><?xml version="1.0" encoding="utf-8"?>
<ds:datastoreItem xmlns:ds="http://schemas.openxmlformats.org/officeDocument/2006/customXml" ds:itemID="{97E3BD22-8559-41C7-B32B-85AADBCE3220}">
  <ds:schemaRefs/>
</ds:datastoreItem>
</file>

<file path=customXml/itemProps20.xml><?xml version="1.0" encoding="utf-8"?>
<ds:datastoreItem xmlns:ds="http://schemas.openxmlformats.org/officeDocument/2006/customXml" ds:itemID="{CD69D8E4-3079-0947-A87B-18CDAB899542}">
  <ds:schemaRefs/>
</ds:datastoreItem>
</file>

<file path=customXml/itemProps21.xml><?xml version="1.0" encoding="utf-8"?>
<ds:datastoreItem xmlns:ds="http://schemas.openxmlformats.org/officeDocument/2006/customXml" ds:itemID="{0EC57229-3C66-4E28-BE75-EC4AA2288617}">
  <ds:schemaRefs/>
</ds:datastoreItem>
</file>

<file path=customXml/itemProps22.xml><?xml version="1.0" encoding="utf-8"?>
<ds:datastoreItem xmlns:ds="http://schemas.openxmlformats.org/officeDocument/2006/customXml" ds:itemID="{CC49FFC8-2FF3-4057-96F0-3BCD1A4F0351}">
  <ds:schemaRefs/>
</ds:datastoreItem>
</file>

<file path=customXml/itemProps23.xml><?xml version="1.0" encoding="utf-8"?>
<ds:datastoreItem xmlns:ds="http://schemas.openxmlformats.org/officeDocument/2006/customXml" ds:itemID="{538A7E94-9A75-944B-BB53-DAD192A33F0F}">
  <ds:schemaRefs/>
</ds:datastoreItem>
</file>

<file path=customXml/itemProps24.xml><?xml version="1.0" encoding="utf-8"?>
<ds:datastoreItem xmlns:ds="http://schemas.openxmlformats.org/officeDocument/2006/customXml" ds:itemID="{C1422F45-04DB-421D-8796-270006657806}">
  <ds:schemaRefs>
    <ds:schemaRef ds:uri="http://schemas.microsoft.com/office/2006/metadata/properties"/>
    <ds:schemaRef ds:uri="http://purl.org/dc/terms/"/>
    <ds:schemaRef ds:uri="http://schemas.openxmlformats.org/package/2006/metadata/core-properties"/>
    <ds:schemaRef ds:uri="0e00d59e-b0d2-4e67-be34-67e465b0fbed"/>
    <ds:schemaRef ds:uri="http://schemas.microsoft.com/office/2006/documentManagement/types"/>
    <ds:schemaRef ds:uri="http://schemas.microsoft.com/office/infopath/2007/PartnerControls"/>
    <ds:schemaRef ds:uri="http://purl.org/dc/elements/1.1/"/>
    <ds:schemaRef ds:uri="47fc58d8-9f4b-4bc8-b278-c3cb6f298023"/>
    <ds:schemaRef ds:uri="http://www.w3.org/XML/1998/namespace"/>
    <ds:schemaRef ds:uri="http://purl.org/dc/dcmitype/"/>
    <ds:schemaRef ds:uri="779f7773-5b16-460b-be9a-e10be11b395c"/>
  </ds:schemaRefs>
</ds:datastoreItem>
</file>

<file path=customXml/itemProps25.xml><?xml version="1.0" encoding="utf-8"?>
<ds:datastoreItem xmlns:ds="http://schemas.openxmlformats.org/officeDocument/2006/customXml" ds:itemID="{EA0EFD7B-A280-45FB-AEC3-B703B28210D9}">
  <ds:schemaRefs/>
</ds:datastoreItem>
</file>

<file path=customXml/itemProps26.xml><?xml version="1.0" encoding="utf-8"?>
<ds:datastoreItem xmlns:ds="http://schemas.openxmlformats.org/officeDocument/2006/customXml" ds:itemID="{DF3DA119-9F3B-B04F-B2CE-ED7B6150E810}">
  <ds:schemaRefs/>
</ds:datastoreItem>
</file>

<file path=customXml/itemProps27.xml><?xml version="1.0" encoding="utf-8"?>
<ds:datastoreItem xmlns:ds="http://schemas.openxmlformats.org/officeDocument/2006/customXml" ds:itemID="{7F6898E6-9ADD-4538-B0E5-FC21C8DB6903}">
  <ds:schemaRefs/>
</ds:datastoreItem>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emplate>blank</Template>
  <TotalTime>0</TotalTime>
  <Words>1354</Words>
  <Application>Microsoft Office PowerPoint</Application>
  <PresentationFormat>Custom</PresentationFormat>
  <Paragraphs>400</Paragraphs>
  <Slides>2</Slides>
  <Notes>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4" baseType="lpstr">
      <vt:lpstr>Arial</vt:lpstr>
      <vt:lpstr>Wingdings</vt:lpstr>
      <vt:lpstr>Wingdings</vt:lpstr>
      <vt:lpstr>72 Brand (body)</vt:lpstr>
      <vt:lpstr>Symbol</vt:lpstr>
      <vt:lpstr>72 Brand</vt:lpstr>
      <vt:lpstr>Arial Unicode MS</vt:lpstr>
      <vt:lpstr>Roboto</vt:lpstr>
      <vt:lpstr>72 Brand Medium</vt:lpstr>
      <vt:lpstr>Courier New</vt:lpstr>
      <vt:lpstr>SAP Template 2023</vt:lpstr>
      <vt:lpstr>think-cell Slide</vt:lpstr>
      <vt:lpstr>APAC – Role Transformation KPIs | Enterprise Architect (EA) 1/5</vt:lpstr>
      <vt:lpstr>APAC – Qualitative Assessment of Improvement Execution | Enterprise Architect (EA) 2/5</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Zhuang, Cathy</dc:creator>
  <cp:keywords>2023/16:9/white</cp:keywords>
  <dc:description/>
  <cp:lastModifiedBy>Zhuang, Cathy</cp:lastModifiedBy>
  <cp:revision>1</cp:revision>
  <dcterms:created xsi:type="dcterms:W3CDTF">2026-08-13T05:38:05Z</dcterms:created>
  <dcterms:modified xsi:type="dcterms:W3CDTF">2026-08-13T05:39:02Z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y fmtid="{D5CDD505-2E9C-101B-9397-08002B2CF9AE}" pid="8" name="ContentTypeId">
    <vt:lpwstr>0x010100AC4034B036C92A4A897F8A958DF51533</vt:lpwstr>
  </property>
  <property fmtid="{D5CDD505-2E9C-101B-9397-08002B2CF9AE}" pid="9" name="TemplafyTimeStamp">
    <vt:lpwstr>2023-10-17T07:10:10</vt:lpwstr>
  </property>
  <property fmtid="{D5CDD505-2E9C-101B-9397-08002B2CF9AE}" pid="10" name="TemplafyTenantId">
    <vt:lpwstr>sap</vt:lpwstr>
  </property>
  <property fmtid="{D5CDD505-2E9C-101B-9397-08002B2CF9AE}" pid="11" name="TemplafyTemplateId">
    <vt:lpwstr>743088030174412800</vt:lpwstr>
  </property>
  <property fmtid="{D5CDD505-2E9C-101B-9397-08002B2CF9AE}" pid="12" name="TemplafyUserProfileId">
    <vt:lpwstr>637653955260011855</vt:lpwstr>
  </property>
  <property fmtid="{D5CDD505-2E9C-101B-9397-08002B2CF9AE}" pid="13" name="TemplafyLanguageCode">
    <vt:lpwstr>en-US</vt:lpwstr>
  </property>
  <property fmtid="{D5CDD505-2E9C-101B-9397-08002B2CF9AE}" pid="14" name="TemplafyFromBlank">
    <vt:bool>false</vt:bool>
  </property>
</Properties>
</file>